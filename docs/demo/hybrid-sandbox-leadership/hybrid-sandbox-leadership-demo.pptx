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Open with the outcome: we proved that a serverless agent can keep its model loop and Hosted Skills in Azure Functions while every locally executable tool runs in a fresh, customer-owned ACA Sandbox. APIM remains the governed gateway for both Foundry model calls and remote MCP. This presentation uses the live retained spike environment and actual telemetry.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Frame the problem, not just the technology. Agents become dramatically more useful when they can execute customer Python, shell, file, and search tools. But putting those tools inside the Functions worker expands the blast radius. The spike separates trusted orchestration from untrusted execution without moving the model loop or privileged remote connectors into the sandbox.</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Walk left to right. The Hosted Skill endpoint and MAF model loop stay in Azure Functions. Every model call and remote MCP call crosses a dedicated APIM API with subscription protection and W3C correlation. When MAF selects a local tool, middleware intercepts only the exact sandbox-generated stub and routes it down to one fresh customer ACA Sandbox. Customer managed identity, egress policy, and tool code stay on that side of the boundary.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This is the measured lifecycle for each invocation in the exact-source September 5 qualification. A fresh sandbox averaged 3.15 seconds to create. The optimized thin bundle uploaded in 103 milliseconds, executor readiness averaged 464 milliseconds, and deterministic local tool execution averaged 0.28 milliseconds. Terminal lifecycle handoff averaged 77.4 milliseconds. Four invocation-handle delete requests were accepted normally; 17 timed out at the existing five-second bound and all 17 were then confirmed deleted by the separately bounded exact-ID provider fallback. The fallback itself averaged 593 milliseconds. Completed output remained intact, inventory returned to zero at every stage, and the whole runtime averaged 13.22 seconds.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This is the strongest demonstration: one actual Hosted Skills request used Microsoft Learn MCP and two local shell tools, returning the MCP takeaway plus ALPHA_COMPLETE and BETA_COMPLETE. The same bounded window contains two successful model POSTs and five successful MCP POSTs through APIM. The local calls shared one invocation sandbox and were safely queued by the same-sandbox journal; this is parallel model fan-out, not simultaneous local command execution. Correlated telemetry shows 68 runtime dependency spans, create and delete timing, and final typed sandbox inventory zero without operator cleanup. The chat capture is an actual Playwright recording. The APIM and sandbox panels contain live product views. The trace panel is a content-free visualization generated from the same real Application Insights spans because the active Edge session could not be taken over safely.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Close with the exact-source September 5 result and a concrete ask. Against the canonical baseline, average runtime latency dropped 35.50 percent, cold latency dropped 20.52 percent, c1 p50 dropped 34.78 percent, and c10 p50 dropped 18.39 percent. All 21 nonstream requests succeeded, there were no hybrid failures, and inventory was zero before and after every stage. Four handle delete initiations were accepted normally. Seventeen stalled at the five-second bound; all 17 exact-ID provider fallbacks confirmed deletion in 593 milliseconds average without replacing completed output. The run is 2.57 seconds slower on average than the September 3 optimized result because the exceptional path paid the handle bound. APIM gateway diagnostic rows were unavailable for this clean window, so this slide does not repeat the historical gateway-overhead estimate. The recommendation is not to call this production-ready; it is to fund a productization design for a supported customer-controlled tool execution plane.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This appendix shows the control-plane split. The request enters Azure Functions, which creates one fresh customer sandbox and completes package verification, executor startup, manifest discovery, and inert stub construction before MAF starts. Model and remote MCP calls remain in Functions and cross APIM; only exact local stubs enter the no-ingress journal. One executor queues local calls in the invocation sandbox. After synthesis, Functions drains work, writes shutdown, applies the 300/600 lifecycle, and requests delete. A bounded exact-ID provider fallback covers pre-acceptance stalls while lifecycle and reaper remain backstops.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2"/>
          <p:cNvSpPr/>
          <p:nvPr/>
        </p:nvSpPr>
        <p:spPr>
          <a:xfrm>
            <a:off x="0" y="0"/>
            <a:ext cx="9144000" cy="6858000"/>
          </a:xfrm>
          <a:prstGeom prst="rect">
            <a:avLst/>
          </a:prstGeom>
          <a:solidFill>
            <a:srgbClr val="0B1220"/>
          </a:solidFill>
        </p:spPr>
        <p:txBody>
          <a:bodyPr rtlCol="0" anchor="ctr"/>
          <a:lstStyle/>
          <a:p/>
        </p:txBody>
      </p:sp>
      <p:sp>
        <p:nvSpPr>
          <p:cNvPr id="3" name="Shape 3"/>
          <p:cNvSpPr/>
          <p:nvPr/>
        </p:nvSpPr>
        <p:spPr>
          <a:xfrm>
            <a:off x="0" y="0"/>
            <a:ext cx="120000" cy="6858000"/>
          </a:xfrm>
          <a:prstGeom prst="rect">
            <a:avLst/>
          </a:prstGeom>
          <a:solidFill>
            <a:srgbClr val="50E6FF"/>
          </a:solidFill>
        </p:spPr>
        <p:txBody>
          <a:bodyPr rtlCol="0" anchor="ctr"/>
          <a:lstStyle/>
          <a:p/>
        </p:txBody>
      </p:sp>
      <p:sp>
        <p:nvSpPr>
          <p:cNvPr id="4" name="TextBox 4"/>
          <p:cNvSpPr txBox="1"/>
          <p:nvPr/>
        </p:nvSpPr>
        <p:spPr>
          <a:xfrm>
            <a:off x="620000" y="520000"/>
            <a:ext cx="6200000" cy="300000"/>
          </a:xfrm>
          <a:prstGeom prst="rect">
            <a:avLst/>
          </a:prstGeom>
        </p:spPr>
        <p:txBody>
          <a:bodyPr wrap="square" rtlCol="0">
            <a:spAutoFit/>
          </a:bodyPr>
          <a:lstStyle/>
          <a:p>
            <a:r>
              <a:rPr b="1" sz="1300" spc="120">
                <a:solidFill>
                  <a:srgbClr val="50E6FF"/>
                </a:solidFill>
                <a:latin typeface="Segoe UI"/>
              </a:rPr>
              <a:t>LEADERSHIP DEMO  |  LIVE AZURE SPIKE</a:t>
            </a:r>
          </a:p>
        </p:txBody>
      </p:sp>
      <p:sp>
        <p:nvSpPr>
          <p:cNvPr id="5" name="TextBox 5"/>
          <p:cNvSpPr txBox="1"/>
          <p:nvPr/>
        </p:nvSpPr>
        <p:spPr>
          <a:xfrm>
            <a:off x="620000" y="1400000"/>
            <a:ext cx="7800000" cy="1450000"/>
          </a:xfrm>
          <a:prstGeom prst="rect">
            <a:avLst/>
          </a:prstGeom>
        </p:spPr>
        <p:txBody>
          <a:bodyPr wrap="square" rtlCol="0">
            <a:spAutoFit/>
          </a:bodyPr>
          <a:lstStyle/>
          <a:p>
            <a:r>
              <a:rPr b="1" sz="3600">
                <a:solidFill>
                  <a:srgbClr val="F7FAFC"/>
                </a:solidFill>
                <a:latin typeface="Segoe UI Semibold"/>
              </a:rPr>
              <a:t>Customer-owned sandboxes for every tool call</a:t>
            </a:r>
          </a:p>
        </p:txBody>
      </p:sp>
      <p:sp>
        <p:nvSpPr>
          <p:cNvPr id="6" name="TextBox 6"/>
          <p:cNvSpPr txBox="1"/>
          <p:nvPr/>
        </p:nvSpPr>
        <p:spPr>
          <a:xfrm>
            <a:off x="640000" y="2930000"/>
            <a:ext cx="6900000" cy="650000"/>
          </a:xfrm>
          <a:prstGeom prst="rect">
            <a:avLst/>
          </a:prstGeom>
        </p:spPr>
        <p:txBody>
          <a:bodyPr wrap="square" rtlCol="0">
            <a:spAutoFit/>
          </a:bodyPr>
          <a:lstStyle/>
          <a:p>
            <a:r>
              <a:rPr sz="1800">
                <a:solidFill>
                  <a:srgbClr val="B8C7DC"/>
                </a:solidFill>
                <a:latin typeface="Segoe UI"/>
              </a:rPr>
              <a:t>Keep agent orchestration in Azure Functions. Route model and MCP traffic through APIM. Execute customer code only inside a fresh ACA Sandbox.</a:t>
            </a:r>
          </a:p>
        </p:txBody>
      </p:sp>
      <p:sp>
        <p:nvSpPr>
          <p:cNvPr id="7" name="Shape 7"/>
          <p:cNvSpPr/>
          <p:nvPr/>
        </p:nvSpPr>
        <p:spPr>
          <a:xfrm>
            <a:off x="640000" y="4200000"/>
            <a:ext cx="2100000" cy="930000"/>
          </a:xfrm>
          <a:prstGeom prst="roundRect">
            <a:avLst/>
          </a:prstGeom>
          <a:solidFill>
            <a:srgbClr val="172A46"/>
          </a:solidFill>
        </p:spPr>
        <p:txBody>
          <a:bodyPr rtlCol="0" anchor="ctr"/>
          <a:lstStyle/>
          <a:p/>
        </p:txBody>
      </p:sp>
      <p:sp>
        <p:nvSpPr>
          <p:cNvPr id="8" name="TextBox 8"/>
          <p:cNvSpPr txBox="1"/>
          <p:nvPr/>
        </p:nvSpPr>
        <p:spPr>
          <a:xfrm>
            <a:off x="820000" y="4420000"/>
            <a:ext cx="1750000" cy="450000"/>
          </a:xfrm>
          <a:prstGeom prst="rect">
            <a:avLst/>
          </a:prstGeom>
        </p:spPr>
        <p:txBody>
          <a:bodyPr wrap="square" rtlCol="0">
            <a:spAutoFit/>
          </a:bodyPr>
          <a:lstStyle/>
          <a:p>
            <a:r>
              <a:rPr b="1" sz="1600">
                <a:solidFill>
                  <a:srgbClr val="F7FAFC"/>
                </a:solidFill>
                <a:latin typeface="Segoe UI Semibold"/>
              </a:rPr>
              <a:t>Azure Functions</a:t>
            </a:r>
          </a:p>
          <a:p>
            <a:r>
              <a:rPr sz="1200">
                <a:solidFill>
                  <a:srgbClr val="A7B5CB"/>
                </a:solidFill>
                <a:latin typeface="Segoe UI"/>
              </a:rPr>
              <a:t>Hosted Skills + MAF</a:t>
            </a:r>
          </a:p>
        </p:txBody>
      </p:sp>
      <p:sp>
        <p:nvSpPr>
          <p:cNvPr id="9" name="Shape 9"/>
          <p:cNvSpPr/>
          <p:nvPr/>
        </p:nvSpPr>
        <p:spPr>
          <a:xfrm>
            <a:off x="2850000" y="4490000"/>
            <a:ext cx="520000" cy="320000"/>
          </a:xfrm>
          <a:prstGeom prst="rightArrow">
            <a:avLst/>
          </a:prstGeom>
          <a:solidFill>
            <a:srgbClr val="287FD1"/>
          </a:solidFill>
        </p:spPr>
        <p:txBody>
          <a:bodyPr rtlCol="0" anchor="ctr"/>
          <a:lstStyle/>
          <a:p/>
        </p:txBody>
      </p:sp>
      <p:sp>
        <p:nvSpPr>
          <p:cNvPr id="10" name="Shape 10"/>
          <p:cNvSpPr/>
          <p:nvPr/>
        </p:nvSpPr>
        <p:spPr>
          <a:xfrm>
            <a:off x="3480000" y="4200000"/>
            <a:ext cx="2100000" cy="930000"/>
          </a:xfrm>
          <a:prstGeom prst="roundRect">
            <a:avLst/>
          </a:prstGeom>
          <a:solidFill>
            <a:srgbClr val="0E4B78"/>
          </a:solidFill>
        </p:spPr>
        <p:txBody>
          <a:bodyPr rtlCol="0" anchor="ctr"/>
          <a:lstStyle/>
          <a:p/>
        </p:txBody>
      </p:sp>
      <p:sp>
        <p:nvSpPr>
          <p:cNvPr id="11" name="TextBox 11"/>
          <p:cNvSpPr txBox="1"/>
          <p:nvPr/>
        </p:nvSpPr>
        <p:spPr>
          <a:xfrm>
            <a:off x="3670000" y="4420000"/>
            <a:ext cx="1730000" cy="450000"/>
          </a:xfrm>
          <a:prstGeom prst="rect">
            <a:avLst/>
          </a:prstGeom>
        </p:spPr>
        <p:txBody>
          <a:bodyPr wrap="square" rtlCol="0">
            <a:spAutoFit/>
          </a:bodyPr>
          <a:lstStyle/>
          <a:p>
            <a:r>
              <a:rPr b="1" sz="1600">
                <a:solidFill>
                  <a:srgbClr val="F7FAFC"/>
                </a:solidFill>
                <a:latin typeface="Segoe UI Semibold"/>
              </a:rPr>
              <a:t>API Management</a:t>
            </a:r>
          </a:p>
          <a:p>
            <a:r>
              <a:rPr sz="1200">
                <a:solidFill>
                  <a:srgbClr val="B7E7FF"/>
                </a:solidFill>
                <a:latin typeface="Segoe UI"/>
              </a:rPr>
              <a:t>Foundry + MCP</a:t>
            </a:r>
          </a:p>
        </p:txBody>
      </p:sp>
      <p:sp>
        <p:nvSpPr>
          <p:cNvPr id="12" name="Shape 12"/>
          <p:cNvSpPr/>
          <p:nvPr/>
        </p:nvSpPr>
        <p:spPr>
          <a:xfrm>
            <a:off x="5680000" y="4490000"/>
            <a:ext cx="520000" cy="320000"/>
          </a:xfrm>
          <a:prstGeom prst="rightArrow">
            <a:avLst/>
          </a:prstGeom>
          <a:solidFill>
            <a:srgbClr val="287FD1"/>
          </a:solidFill>
        </p:spPr>
        <p:txBody>
          <a:bodyPr rtlCol="0" anchor="ctr"/>
          <a:lstStyle/>
          <a:p/>
        </p:txBody>
      </p:sp>
      <p:sp>
        <p:nvSpPr>
          <p:cNvPr id="13" name="Shape 13"/>
          <p:cNvSpPr/>
          <p:nvPr/>
        </p:nvSpPr>
        <p:spPr>
          <a:xfrm>
            <a:off x="6310000" y="4200000"/>
            <a:ext cx="2100000" cy="930000"/>
          </a:xfrm>
          <a:prstGeom prst="roundRect">
            <a:avLst/>
          </a:prstGeom>
          <a:solidFill>
            <a:srgbClr val="163B34"/>
          </a:solidFill>
        </p:spPr>
        <p:txBody>
          <a:bodyPr rtlCol="0" anchor="ctr"/>
          <a:lstStyle/>
          <a:p/>
        </p:txBody>
      </p:sp>
      <p:sp>
        <p:nvSpPr>
          <p:cNvPr id="14" name="TextBox 14"/>
          <p:cNvSpPr txBox="1"/>
          <p:nvPr/>
        </p:nvSpPr>
        <p:spPr>
          <a:xfrm>
            <a:off x="6490000" y="4420000"/>
            <a:ext cx="1750000" cy="450000"/>
          </a:xfrm>
          <a:prstGeom prst="rect">
            <a:avLst/>
          </a:prstGeom>
        </p:spPr>
        <p:txBody>
          <a:bodyPr wrap="square" rtlCol="0">
            <a:spAutoFit/>
          </a:bodyPr>
          <a:lstStyle/>
          <a:p>
            <a:r>
              <a:rPr b="1" sz="1600">
                <a:solidFill>
                  <a:srgbClr val="F7FAFC"/>
                </a:solidFill>
                <a:latin typeface="Segoe UI Semibold"/>
              </a:rPr>
              <a:t>ACA Sandbox</a:t>
            </a:r>
          </a:p>
          <a:p>
            <a:r>
              <a:rPr sz="1200">
                <a:solidFill>
                  <a:srgbClr val="9DE6C8"/>
                </a:solidFill>
                <a:latin typeface="Segoe UI"/>
              </a:rPr>
              <a:t>Isolated local tools</a:t>
            </a:r>
          </a:p>
        </p:txBody>
      </p:sp>
      <p:sp>
        <p:nvSpPr>
          <p:cNvPr id="15" name="TextBox 15"/>
          <p:cNvSpPr txBox="1"/>
          <p:nvPr/>
        </p:nvSpPr>
        <p:spPr>
          <a:xfrm>
            <a:off x="640000" y="6190000"/>
            <a:ext cx="7800000" cy="250000"/>
          </a:xfrm>
          <a:prstGeom prst="rect">
            <a:avLst/>
          </a:prstGeom>
        </p:spPr>
        <p:txBody>
          <a:bodyPr wrap="square" rtlCol="0">
            <a:spAutoFit/>
          </a:bodyPr>
          <a:lstStyle/>
          <a:p>
            <a:r>
              <a:rPr sz="1000">
                <a:solidFill>
                  <a:srgbClr val="71839B"/>
                </a:solidFill>
                <a:latin typeface="Segoe UI"/>
              </a:rPr>
              <a:t>Azure Functions Agents Runtime  |  Experimental hybrid tool execution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0" y="0"/>
            <a:ext cx="9144000" cy="6858000"/>
          </a:xfrm>
          <a:prstGeom prst="rect">
            <a:avLst/>
          </a:prstGeom>
          <a:solidFill>
            <a:srgbClr val="0B1220"/>
          </a:solidFill>
        </p:spPr>
        <p:txBody>
          <a:bodyPr rtlCol="0" anchor="ctr"/>
          <a:lstStyle/>
          <a:p/>
        </p:txBody>
      </p:sp>
      <p:sp>
        <p:nvSpPr>
          <p:cNvPr id="3" name="Shape 3"/>
          <p:cNvSpPr/>
          <p:nvPr/>
        </p:nvSpPr>
        <p:spPr>
          <a:xfrm>
            <a:off x="0" y="0"/>
            <a:ext cx="9144000" cy="90000"/>
          </a:xfrm>
          <a:prstGeom prst="rect">
            <a:avLst/>
          </a:prstGeom>
          <a:solidFill>
            <a:srgbClr val="0078D4"/>
          </a:solidFill>
        </p:spPr>
        <p:txBody>
          <a:bodyPr rtlCol="0" anchor="ctr"/>
          <a:lstStyle/>
          <a:p/>
        </p:txBody>
      </p:sp>
      <p:sp>
        <p:nvSpPr>
          <p:cNvPr id="4" name="TextBox 4"/>
          <p:cNvSpPr txBox="1"/>
          <p:nvPr/>
        </p:nvSpPr>
        <p:spPr>
          <a:xfrm>
            <a:off x="560000" y="390000"/>
            <a:ext cx="7900000" cy="560000"/>
          </a:xfrm>
          <a:prstGeom prst="rect">
            <a:avLst/>
          </a:prstGeom>
        </p:spPr>
        <p:txBody>
          <a:bodyPr wrap="square" rtlCol="0">
            <a:spAutoFit/>
          </a:bodyPr>
          <a:lstStyle/>
          <a:p>
            <a:r>
              <a:rPr b="1" sz="2800">
                <a:solidFill>
                  <a:srgbClr val="F7FAFC"/>
                </a:solidFill>
                <a:latin typeface="Segoe UI Semibold"/>
              </a:rPr>
              <a:t>Powerful agents need a safer place to act</a:t>
            </a:r>
          </a:p>
        </p:txBody>
      </p:sp>
      <p:sp>
        <p:nvSpPr>
          <p:cNvPr id="5" name="TextBox 5"/>
          <p:cNvSpPr txBox="1"/>
          <p:nvPr/>
        </p:nvSpPr>
        <p:spPr>
          <a:xfrm>
            <a:off x="580000" y="980000"/>
            <a:ext cx="7700000" cy="320000"/>
          </a:xfrm>
          <a:prstGeom prst="rect">
            <a:avLst/>
          </a:prstGeom>
        </p:spPr>
        <p:txBody>
          <a:bodyPr wrap="square" rtlCol="0">
            <a:spAutoFit/>
          </a:bodyPr>
          <a:lstStyle/>
          <a:p>
            <a:r>
              <a:rPr b="1" sz="1100" spc="110">
                <a:solidFill>
                  <a:srgbClr val="50E6FF"/>
                </a:solidFill>
                <a:latin typeface="Segoe UI"/>
              </a:rPr>
              <a:t>THE DESIGN TENSION</a:t>
            </a:r>
          </a:p>
        </p:txBody>
      </p:sp>
      <p:sp>
        <p:nvSpPr>
          <p:cNvPr id="6" name="Shape 6"/>
          <p:cNvSpPr/>
          <p:nvPr/>
        </p:nvSpPr>
        <p:spPr>
          <a:xfrm>
            <a:off x="580000" y="1570000"/>
            <a:ext cx="3700000" cy="3400000"/>
          </a:xfrm>
          <a:prstGeom prst="roundRect">
            <a:avLst/>
          </a:prstGeom>
          <a:solidFill>
            <a:srgbClr val="2A1923"/>
          </a:solidFill>
        </p:spPr>
        <p:txBody>
          <a:bodyPr rtlCol="0" anchor="ctr"/>
          <a:lstStyle/>
          <a:p/>
        </p:txBody>
      </p:sp>
      <p:sp>
        <p:nvSpPr>
          <p:cNvPr id="7" name="TextBox 7"/>
          <p:cNvSpPr txBox="1"/>
          <p:nvPr/>
        </p:nvSpPr>
        <p:spPr>
          <a:xfrm>
            <a:off x="900000" y="1860000"/>
            <a:ext cx="3000000" cy="430000"/>
          </a:xfrm>
          <a:prstGeom prst="rect">
            <a:avLst/>
          </a:prstGeom>
        </p:spPr>
        <p:txBody>
          <a:bodyPr wrap="square" rtlCol="0">
            <a:spAutoFit/>
          </a:bodyPr>
          <a:lstStyle/>
          <a:p>
            <a:r>
              <a:rPr b="1" sz="2000">
                <a:solidFill>
                  <a:srgbClr val="FFB4C0"/>
                </a:solidFill>
                <a:latin typeface="Segoe UI Semibold"/>
              </a:rPr>
              <a:t>If tools run in the worker</a:t>
            </a:r>
          </a:p>
        </p:txBody>
      </p:sp>
      <p:sp>
        <p:nvSpPr>
          <p:cNvPr id="8" name="TextBox 8"/>
          <p:cNvSpPr txBox="1"/>
          <p:nvPr/>
        </p:nvSpPr>
        <p:spPr>
          <a:xfrm>
            <a:off x="920000" y="2510000"/>
            <a:ext cx="2900000" cy="1550000"/>
          </a:xfrm>
          <a:prstGeom prst="rect">
            <a:avLst/>
          </a:prstGeom>
        </p:spPr>
        <p:txBody>
          <a:bodyPr wrap="square" rtlCol="0">
            <a:spAutoFit/>
          </a:bodyPr>
          <a:lstStyle/>
          <a:p>
            <a:r>
              <a:rPr sz="1400">
                <a:solidFill>
                  <a:srgbClr val="E8CCD2"/>
                </a:solidFill>
                <a:latin typeface="Segoe UI"/>
              </a:rPr>
              <a:t>Customer code shares the Functions process</a:t>
            </a:r>
          </a:p>
          <a:p>
            <a:r>
              <a:rPr sz="1400">
                <a:solidFill>
                  <a:srgbClr val="E8CCD2"/>
                </a:solidFill>
                <a:latin typeface="Segoe UI"/>
              </a:rPr>
              <a:t>Shell and file access expand the blast radius</a:t>
            </a:r>
          </a:p>
          <a:p>
            <a:r>
              <a:rPr sz="1400">
                <a:solidFill>
                  <a:srgbClr val="E8CCD2"/>
                </a:solidFill>
                <a:latin typeface="Segoe UI"/>
              </a:rPr>
              <a:t>Credentials and host state are harder to isolate</a:t>
            </a:r>
          </a:p>
          <a:p>
            <a:r>
              <a:rPr sz="1400">
                <a:solidFill>
                  <a:srgbClr val="E8CCD2"/>
                </a:solidFill>
                <a:latin typeface="Segoe UI"/>
              </a:rPr>
              <a:t>Cleanup is coupled to request completion</a:t>
            </a:r>
          </a:p>
        </p:txBody>
      </p:sp>
      <p:sp>
        <p:nvSpPr>
          <p:cNvPr id="9" name="Shape 9"/>
          <p:cNvSpPr/>
          <p:nvPr/>
        </p:nvSpPr>
        <p:spPr>
          <a:xfrm>
            <a:off x="4340000" y="2930000"/>
            <a:ext cx="560000" cy="430000"/>
          </a:xfrm>
          <a:prstGeom prst="rightArrow">
            <a:avLst/>
          </a:prstGeom>
          <a:solidFill>
            <a:srgbClr val="50E6FF"/>
          </a:solidFill>
        </p:spPr>
        <p:txBody>
          <a:bodyPr rtlCol="0" anchor="ctr"/>
          <a:lstStyle/>
          <a:p/>
        </p:txBody>
      </p:sp>
      <p:sp>
        <p:nvSpPr>
          <p:cNvPr id="10" name="Shape 10"/>
          <p:cNvSpPr/>
          <p:nvPr/>
        </p:nvSpPr>
        <p:spPr>
          <a:xfrm>
            <a:off x="5180000" y="1570000"/>
            <a:ext cx="3380000" cy="3400000"/>
          </a:xfrm>
          <a:prstGeom prst="roundRect">
            <a:avLst/>
          </a:prstGeom>
          <a:solidFill>
            <a:srgbClr val="12342E"/>
          </a:solidFill>
        </p:spPr>
        <p:txBody>
          <a:bodyPr rtlCol="0" anchor="ctr"/>
          <a:lstStyle/>
          <a:p/>
        </p:txBody>
      </p:sp>
      <p:sp>
        <p:nvSpPr>
          <p:cNvPr id="11" name="TextBox 11"/>
          <p:cNvSpPr txBox="1"/>
          <p:nvPr/>
        </p:nvSpPr>
        <p:spPr>
          <a:xfrm>
            <a:off x="5480000" y="1860000"/>
            <a:ext cx="2800000" cy="430000"/>
          </a:xfrm>
          <a:prstGeom prst="rect">
            <a:avLst/>
          </a:prstGeom>
        </p:spPr>
        <p:txBody>
          <a:bodyPr wrap="square" rtlCol="0">
            <a:spAutoFit/>
          </a:bodyPr>
          <a:lstStyle/>
          <a:p>
            <a:r>
              <a:rPr b="1" sz="2000">
                <a:solidFill>
                  <a:srgbClr val="9DE6C8"/>
                </a:solidFill>
                <a:latin typeface="Segoe UI Semibold"/>
              </a:rPr>
              <a:t>If tools run in ACA Sandbox</a:t>
            </a:r>
          </a:p>
        </p:txBody>
      </p:sp>
      <p:sp>
        <p:nvSpPr>
          <p:cNvPr id="12" name="TextBox 12"/>
          <p:cNvSpPr txBox="1"/>
          <p:nvPr/>
        </p:nvSpPr>
        <p:spPr>
          <a:xfrm>
            <a:off x="5500000" y="2510000"/>
            <a:ext cx="2700000" cy="1550000"/>
          </a:xfrm>
          <a:prstGeom prst="rect">
            <a:avLst/>
          </a:prstGeom>
        </p:spPr>
        <p:txBody>
          <a:bodyPr wrap="square" rtlCol="0">
            <a:spAutoFit/>
          </a:bodyPr>
          <a:lstStyle/>
          <a:p>
            <a:r>
              <a:rPr sz="1400">
                <a:solidFill>
                  <a:srgbClr val="D0EEE2"/>
                </a:solidFill>
                <a:latin typeface="Segoe UI"/>
              </a:rPr>
              <a:t>One fresh customer-owned boundary per invocation</a:t>
            </a:r>
          </a:p>
          <a:p>
            <a:r>
              <a:rPr sz="1400">
                <a:solidFill>
                  <a:srgbClr val="D0EEE2"/>
                </a:solidFill>
                <a:latin typeface="Segoe UI"/>
              </a:rPr>
              <a:t>Customer managed identity and network policy</a:t>
            </a:r>
          </a:p>
          <a:p>
            <a:r>
              <a:rPr sz="1400">
                <a:solidFill>
                  <a:srgbClr val="D0EEE2"/>
                </a:solidFill>
                <a:latin typeface="Segoe UI"/>
              </a:rPr>
              <a:t>No public ingress; deny-by-default egress</a:t>
            </a:r>
          </a:p>
          <a:p>
            <a:r>
              <a:rPr sz="1400">
                <a:solidFill>
                  <a:srgbClr val="D0EEE2"/>
                </a:solidFill>
                <a:latin typeface="Segoe UI"/>
              </a:rPr>
              <a:t>Server-side deletion plus lifecycle fallback</a:t>
            </a:r>
          </a:p>
        </p:txBody>
      </p:sp>
      <p:sp>
        <p:nvSpPr>
          <p:cNvPr id="13" name="Shape 13"/>
          <p:cNvSpPr/>
          <p:nvPr/>
        </p:nvSpPr>
        <p:spPr>
          <a:xfrm>
            <a:off x="580000" y="5360000"/>
            <a:ext cx="7980000" cy="780000"/>
          </a:xfrm>
          <a:prstGeom prst="roundRect">
            <a:avLst/>
          </a:prstGeom>
          <a:solidFill>
            <a:srgbClr val="123057"/>
          </a:solidFill>
        </p:spPr>
        <p:txBody>
          <a:bodyPr rtlCol="0" anchor="ctr"/>
          <a:lstStyle/>
          <a:p/>
        </p:txBody>
      </p:sp>
      <p:sp>
        <p:nvSpPr>
          <p:cNvPr id="14" name="TextBox 14"/>
          <p:cNvSpPr txBox="1"/>
          <p:nvPr/>
        </p:nvSpPr>
        <p:spPr>
          <a:xfrm>
            <a:off x="880000" y="5560000"/>
            <a:ext cx="7400000" cy="360000"/>
          </a:xfrm>
          <a:prstGeom prst="rect">
            <a:avLst/>
          </a:prstGeom>
        </p:spPr>
        <p:txBody>
          <a:bodyPr wrap="square" rtlCol="0">
            <a:spAutoFit/>
          </a:bodyPr>
          <a:lstStyle/>
          <a:p>
            <a:r>
              <a:rPr b="1" sz="1600">
                <a:solidFill>
                  <a:srgbClr val="EAF6FF"/>
                </a:solidFill>
                <a:latin typeface="Segoe UI Semibold"/>
              </a:rPr>
              <a:t>The split-plane bet: keep trusted orchestration close to the app; move untrusted execution into customer-controlled isolation.</a:t>
            </a:r>
          </a:p>
        </p:txBody>
      </p:sp>
      <p:sp>
        <p:nvSpPr>
          <p:cNvPr id="15" name="TextBox 15"/>
          <p:cNvSpPr txBox="1"/>
          <p:nvPr/>
        </p:nvSpPr>
        <p:spPr>
          <a:xfrm>
            <a:off x="580000" y="6410000"/>
            <a:ext cx="7700000" cy="180000"/>
          </a:xfrm>
          <a:prstGeom prst="rect">
            <a:avLst/>
          </a:prstGeom>
        </p:spPr>
        <p:txBody>
          <a:bodyPr wrap="square" rtlCol="0">
            <a:spAutoFit/>
          </a:bodyPr>
          <a:lstStyle/>
          <a:p>
            <a:r>
              <a:rPr sz="900">
                <a:solidFill>
                  <a:srgbClr val="71839B"/>
                </a:solidFill>
                <a:latin typeface="Segoe UI"/>
              </a:rPr>
              <a:t>Private experimental path; no public authoring surface changed.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0" y="0"/>
            <a:ext cx="9144000" cy="6858000"/>
          </a:xfrm>
          <a:prstGeom prst="rect">
            <a:avLst/>
          </a:prstGeom>
          <a:solidFill>
            <a:srgbClr val="07101C"/>
          </a:solidFill>
        </p:spPr>
        <p:txBody>
          <a:bodyPr rtlCol="0" anchor="ctr"/>
          <a:lstStyle/>
          <a:p/>
        </p:txBody>
      </p:sp>
      <p:sp>
        <p:nvSpPr>
          <p:cNvPr id="3" name="Shape 3"/>
          <p:cNvSpPr/>
          <p:nvPr/>
        </p:nvSpPr>
        <p:spPr>
          <a:xfrm>
            <a:off x="0" y="0"/>
            <a:ext cx="9144000" cy="90000"/>
          </a:xfrm>
          <a:prstGeom prst="rect">
            <a:avLst/>
          </a:prstGeom>
          <a:solidFill>
            <a:srgbClr val="50E6FF"/>
          </a:solidFill>
        </p:spPr>
        <p:txBody>
          <a:bodyPr rtlCol="0" anchor="ctr"/>
          <a:lstStyle/>
          <a:p/>
        </p:txBody>
      </p:sp>
      <p:sp>
        <p:nvSpPr>
          <p:cNvPr id="4" name="TextBox 4"/>
          <p:cNvSpPr txBox="1"/>
          <p:nvPr/>
        </p:nvSpPr>
        <p:spPr>
          <a:xfrm>
            <a:off x="500000" y="330000"/>
            <a:ext cx="8000000" cy="500000"/>
          </a:xfrm>
          <a:prstGeom prst="rect">
            <a:avLst/>
          </a:prstGeom>
        </p:spPr>
        <p:txBody>
          <a:bodyPr wrap="square" rtlCol="0">
            <a:spAutoFit/>
          </a:bodyPr>
          <a:lstStyle/>
          <a:p>
            <a:r>
              <a:rPr b="1" sz="2800">
                <a:solidFill>
                  <a:srgbClr val="F7FAFC"/>
                </a:solidFill>
                <a:latin typeface="Segoe UI Semibold"/>
              </a:rPr>
              <a:t>One request. Two governed execution planes.</a:t>
            </a:r>
          </a:p>
        </p:txBody>
      </p:sp>
      <p:sp>
        <p:nvSpPr>
          <p:cNvPr id="5" name="TextBox 5"/>
          <p:cNvSpPr txBox="1"/>
          <p:nvPr/>
        </p:nvSpPr>
        <p:spPr>
          <a:xfrm>
            <a:off x="520000" y="900000"/>
            <a:ext cx="8000000" cy="270000"/>
          </a:xfrm>
          <a:prstGeom prst="rect">
            <a:avLst/>
          </a:prstGeom>
        </p:spPr>
        <p:txBody>
          <a:bodyPr wrap="square" rtlCol="0">
            <a:spAutoFit/>
          </a:bodyPr>
          <a:lstStyle/>
          <a:p>
            <a:r>
              <a:rPr b="1" sz="1000" spc="80">
                <a:solidFill>
                  <a:srgbClr val="50E6FF"/>
                </a:solidFill>
                <a:latin typeface="Segoe UI"/>
              </a:rPr>
              <a:t>LIVE ARCHITECTURE  |  HOSTED SKILL ORCHESTRATION + CUSTOMER-OWNED TOOL ISOLATION</a:t>
            </a:r>
          </a:p>
        </p:txBody>
      </p:sp>
      <p:sp>
        <p:nvSpPr>
          <p:cNvPr id="6" name="Shape 6"/>
          <p:cNvSpPr/>
          <p:nvPr/>
        </p:nvSpPr>
        <p:spPr>
          <a:xfrm>
            <a:off x="350000" y="2100000"/>
            <a:ext cx="1200000" cy="1120000"/>
          </a:xfrm>
          <a:prstGeom prst="roundRect">
            <a:avLst/>
          </a:prstGeom>
          <a:solidFill>
            <a:srgbClr val="1D2B3D"/>
          </a:solidFill>
        </p:spPr>
        <p:txBody>
          <a:bodyPr rtlCol="0" anchor="ctr"/>
          <a:lstStyle/>
          <a:p/>
        </p:txBody>
      </p:sp>
      <p:sp>
        <p:nvSpPr>
          <p:cNvPr id="7" name="TextBox 7"/>
          <p:cNvSpPr txBox="1"/>
          <p:nvPr/>
        </p:nvSpPr>
        <p:spPr>
          <a:xfrm>
            <a:off x="510000" y="2370000"/>
            <a:ext cx="900000" cy="520000"/>
          </a:xfrm>
          <a:prstGeom prst="rect">
            <a:avLst/>
          </a:prstGeom>
        </p:spPr>
        <p:txBody>
          <a:bodyPr wrap="square" rtlCol="0">
            <a:spAutoFit/>
          </a:bodyPr>
          <a:lstStyle/>
          <a:p>
            <a:r>
              <a:rPr b="1" sz="1700">
                <a:solidFill>
                  <a:srgbClr val="F7FAFC"/>
                </a:solidFill>
                <a:latin typeface="Segoe UI Semibold"/>
              </a:rPr>
              <a:t>Client</a:t>
            </a:r>
          </a:p>
          <a:p>
            <a:r>
              <a:rPr sz="1300">
                <a:solidFill>
                  <a:srgbClr val="A7B5CB"/>
                </a:solidFill>
                <a:latin typeface="Segoe UI"/>
              </a:rPr>
              <a:t>request</a:t>
            </a:r>
          </a:p>
        </p:txBody>
      </p:sp>
      <p:sp>
        <p:nvSpPr>
          <p:cNvPr id="8" name="Shape 8"/>
          <p:cNvSpPr/>
          <p:nvPr/>
        </p:nvSpPr>
        <p:spPr>
          <a:xfrm>
            <a:off x="1570000" y="2460000"/>
            <a:ext cx="460000" cy="340000"/>
          </a:xfrm>
          <a:prstGeom prst="rightArrow">
            <a:avLst/>
          </a:prstGeom>
          <a:solidFill>
            <a:srgbClr val="287FD1"/>
          </a:solidFill>
        </p:spPr>
        <p:txBody>
          <a:bodyPr rtlCol="0" anchor="ctr"/>
          <a:lstStyle/>
          <a:p/>
        </p:txBody>
      </p:sp>
      <p:sp>
        <p:nvSpPr>
          <p:cNvPr id="9" name="Shape 9"/>
          <p:cNvSpPr/>
          <p:nvPr/>
        </p:nvSpPr>
        <p:spPr>
          <a:xfrm>
            <a:off x="2090000" y="1450000"/>
            <a:ext cx="2250000" cy="4310000"/>
          </a:xfrm>
          <a:prstGeom prst="roundRect">
            <a:avLst/>
          </a:prstGeom>
          <a:solidFill>
            <a:srgbClr val="12233D"/>
          </a:solidFill>
        </p:spPr>
        <p:txBody>
          <a:bodyPr rtlCol="0" anchor="ctr"/>
          <a:lstStyle/>
          <a:p/>
        </p:txBody>
      </p:sp>
      <p:sp>
        <p:nvSpPr>
          <p:cNvPr id="10" name="TextBox 10"/>
          <p:cNvSpPr txBox="1"/>
          <p:nvPr/>
        </p:nvSpPr>
        <p:spPr>
          <a:xfrm>
            <a:off x="2330000" y="1690000"/>
            <a:ext cx="1800000" cy="320000"/>
          </a:xfrm>
          <a:prstGeom prst="rect">
            <a:avLst/>
          </a:prstGeom>
        </p:spPr>
        <p:txBody>
          <a:bodyPr wrap="square" rtlCol="0">
            <a:spAutoFit/>
          </a:bodyPr>
          <a:lstStyle/>
          <a:p>
            <a:r>
              <a:rPr b="1" sz="1100" spc="90">
                <a:solidFill>
                  <a:srgbClr val="66C7FF"/>
                </a:solidFill>
                <a:latin typeface="Segoe UI"/>
              </a:rPr>
              <a:t>AZURE FUNCTIONS</a:t>
            </a:r>
          </a:p>
        </p:txBody>
      </p:sp>
      <p:sp>
        <p:nvSpPr>
          <p:cNvPr id="11" name="Shape 11"/>
          <p:cNvSpPr/>
          <p:nvPr/>
        </p:nvSpPr>
        <p:spPr>
          <a:xfrm>
            <a:off x="2350000" y="2200000"/>
            <a:ext cx="1730000" cy="920000"/>
          </a:xfrm>
          <a:prstGeom prst="roundRect">
            <a:avLst/>
          </a:prstGeom>
          <a:solidFill>
            <a:srgbClr val="194E7A"/>
          </a:solidFill>
        </p:spPr>
        <p:txBody>
          <a:bodyPr rtlCol="0" anchor="ctr"/>
          <a:lstStyle/>
          <a:p/>
        </p:txBody>
      </p:sp>
      <p:sp>
        <p:nvSpPr>
          <p:cNvPr id="12" name="TextBox 12"/>
          <p:cNvSpPr txBox="1"/>
          <p:nvPr/>
        </p:nvSpPr>
        <p:spPr>
          <a:xfrm>
            <a:off x="2550000" y="2420000"/>
            <a:ext cx="1350000" cy="430000"/>
          </a:xfrm>
          <a:prstGeom prst="rect">
            <a:avLst/>
          </a:prstGeom>
        </p:spPr>
        <p:txBody>
          <a:bodyPr wrap="square" rtlCol="0">
            <a:spAutoFit/>
          </a:bodyPr>
          <a:lstStyle/>
          <a:p>
            <a:r>
              <a:rPr b="1" sz="1600">
                <a:solidFill>
                  <a:srgbClr val="F7FAFC"/>
                </a:solidFill>
                <a:latin typeface="Segoe UI Semibold"/>
              </a:rPr>
              <a:t>Hosted Skill</a:t>
            </a:r>
          </a:p>
          <a:p>
            <a:r>
              <a:rPr sz="1100">
                <a:solidFill>
                  <a:srgbClr val="CDEEFF"/>
                </a:solidFill>
                <a:latin typeface="Segoe UI"/>
              </a:rPr>
              <a:t>HTTP + streaming</a:t>
            </a:r>
          </a:p>
        </p:txBody>
      </p:sp>
      <p:sp>
        <p:nvSpPr>
          <p:cNvPr id="13" name="Shape 13"/>
          <p:cNvSpPr/>
          <p:nvPr/>
        </p:nvSpPr>
        <p:spPr>
          <a:xfrm>
            <a:off x="2350000" y="3430000"/>
            <a:ext cx="1730000" cy="920000"/>
          </a:xfrm>
          <a:prstGeom prst="roundRect">
            <a:avLst/>
          </a:prstGeom>
          <a:solidFill>
            <a:srgbClr val="203451"/>
          </a:solidFill>
        </p:spPr>
        <p:txBody>
          <a:bodyPr rtlCol="0" anchor="ctr"/>
          <a:lstStyle/>
          <a:p/>
        </p:txBody>
      </p:sp>
      <p:sp>
        <p:nvSpPr>
          <p:cNvPr id="14" name="TextBox 14"/>
          <p:cNvSpPr txBox="1"/>
          <p:nvPr/>
        </p:nvSpPr>
        <p:spPr>
          <a:xfrm>
            <a:off x="2530000" y="3650000"/>
            <a:ext cx="1370000" cy="430000"/>
          </a:xfrm>
          <a:prstGeom prst="rect">
            <a:avLst/>
          </a:prstGeom>
        </p:spPr>
        <p:txBody>
          <a:bodyPr wrap="square" rtlCol="0">
            <a:spAutoFit/>
          </a:bodyPr>
          <a:lstStyle/>
          <a:p>
            <a:r>
              <a:rPr b="1" sz="1600">
                <a:solidFill>
                  <a:srgbClr val="F7FAFC"/>
                </a:solidFill>
                <a:latin typeface="Segoe UI Semibold"/>
              </a:rPr>
              <a:t>MAF model loop</a:t>
            </a:r>
          </a:p>
          <a:p>
            <a:r>
              <a:rPr sz="1100">
                <a:solidFill>
                  <a:srgbClr val="B8C7DC"/>
                </a:solidFill>
                <a:latin typeface="Segoe UI"/>
              </a:rPr>
              <a:t>Tool middleware</a:t>
            </a:r>
          </a:p>
        </p:txBody>
      </p:sp>
      <p:sp>
        <p:nvSpPr>
          <p:cNvPr id="15" name="TextBox 15"/>
          <p:cNvSpPr txBox="1"/>
          <p:nvPr/>
        </p:nvSpPr>
        <p:spPr>
          <a:xfrm>
            <a:off x="2420000" y="4870000"/>
            <a:ext cx="1600000" cy="530000"/>
          </a:xfrm>
          <a:prstGeom prst="rect">
            <a:avLst/>
          </a:prstGeom>
        </p:spPr>
        <p:txBody>
          <a:bodyPr wrap="square" rtlCol="0">
            <a:spAutoFit/>
          </a:bodyPr>
          <a:lstStyle/>
          <a:p>
            <a:r>
              <a:rPr b="1" sz="1100">
                <a:solidFill>
                  <a:srgbClr val="9DE6C8"/>
                </a:solidFill>
                <a:latin typeface="Segoe UI"/>
              </a:rPr>
              <a:t>Credentials stay here.</a:t>
            </a:r>
          </a:p>
          <a:p>
            <a:r>
              <a:rPr sz="1100">
                <a:solidFill>
                  <a:srgbClr val="9DE6C8"/>
                </a:solidFill>
                <a:latin typeface="Segoe UI"/>
              </a:rPr>
              <a:t>Customer tool modules do not.</a:t>
            </a:r>
          </a:p>
        </p:txBody>
      </p:sp>
      <p:sp>
        <p:nvSpPr>
          <p:cNvPr id="16" name="Shape 16"/>
          <p:cNvSpPr/>
          <p:nvPr/>
        </p:nvSpPr>
        <p:spPr>
          <a:xfrm>
            <a:off x="4380000" y="2470000"/>
            <a:ext cx="430000" cy="330000"/>
          </a:xfrm>
          <a:prstGeom prst="rightArrow">
            <a:avLst/>
          </a:prstGeom>
          <a:solidFill>
            <a:srgbClr val="287FD1"/>
          </a:solidFill>
        </p:spPr>
        <p:txBody>
          <a:bodyPr rtlCol="0" anchor="ctr"/>
          <a:lstStyle/>
          <a:p/>
        </p:txBody>
      </p:sp>
      <p:sp>
        <p:nvSpPr>
          <p:cNvPr id="17" name="Shape 17"/>
          <p:cNvSpPr/>
          <p:nvPr/>
        </p:nvSpPr>
        <p:spPr>
          <a:xfrm>
            <a:off x="4900000" y="1450000"/>
            <a:ext cx="1500000" cy="2220000"/>
          </a:xfrm>
          <a:prstGeom prst="roundRect">
            <a:avLst/>
          </a:prstGeom>
          <a:solidFill>
            <a:srgbClr val="0E4B78"/>
          </a:solidFill>
        </p:spPr>
        <p:txBody>
          <a:bodyPr rtlCol="0" anchor="ctr"/>
          <a:lstStyle/>
          <a:p/>
        </p:txBody>
      </p:sp>
      <p:sp>
        <p:nvSpPr>
          <p:cNvPr id="18" name="TextBox 18"/>
          <p:cNvSpPr txBox="1"/>
          <p:nvPr/>
        </p:nvSpPr>
        <p:spPr>
          <a:xfrm>
            <a:off x="5100000" y="1690000"/>
            <a:ext cx="1100000" cy="320000"/>
          </a:xfrm>
          <a:prstGeom prst="rect">
            <a:avLst/>
          </a:prstGeom>
        </p:spPr>
        <p:txBody>
          <a:bodyPr wrap="square" rtlCol="0">
            <a:spAutoFit/>
          </a:bodyPr>
          <a:lstStyle/>
          <a:p>
            <a:r>
              <a:rPr b="1" sz="2000">
                <a:solidFill>
                  <a:srgbClr val="F7FAFC"/>
                </a:solidFill>
                <a:latin typeface="Segoe UI Semibold"/>
              </a:rPr>
              <a:t>APIM</a:t>
            </a:r>
          </a:p>
        </p:txBody>
      </p:sp>
      <p:sp>
        <p:nvSpPr>
          <p:cNvPr id="19" name="TextBox 19"/>
          <p:cNvSpPr txBox="1"/>
          <p:nvPr/>
        </p:nvSpPr>
        <p:spPr>
          <a:xfrm>
            <a:off x="5080000" y="2250000"/>
            <a:ext cx="1140000" cy="820000"/>
          </a:xfrm>
          <a:prstGeom prst="rect">
            <a:avLst/>
          </a:prstGeom>
        </p:spPr>
        <p:txBody>
          <a:bodyPr wrap="square" rtlCol="0">
            <a:spAutoFit/>
          </a:bodyPr>
          <a:lstStyle/>
          <a:p>
            <a:r>
              <a:rPr b="1" sz="1200">
                <a:solidFill>
                  <a:srgbClr val="D8F1FF"/>
                </a:solidFill>
                <a:latin typeface="Segoe UI"/>
              </a:rPr>
              <a:t>AI Gateway</a:t>
            </a:r>
          </a:p>
          <a:p>
            <a:r>
              <a:rPr sz="1100">
                <a:solidFill>
                  <a:srgbClr val="B7E7FF"/>
                </a:solidFill>
                <a:latin typeface="Segoe UI"/>
              </a:rPr>
              <a:t>Foundry model API</a:t>
            </a:r>
          </a:p>
          <a:p>
            <a:r>
              <a:rPr sz="1100">
                <a:solidFill>
                  <a:srgbClr val="B7E7FF"/>
                </a:solidFill>
                <a:latin typeface="Segoe UI"/>
              </a:rPr>
              <a:t>Remote MCP API</a:t>
            </a:r>
          </a:p>
          <a:p>
            <a:r>
              <a:rPr sz="1100">
                <a:solidFill>
                  <a:srgbClr val="B7E7FF"/>
                </a:solidFill>
                <a:latin typeface="Segoe UI"/>
              </a:rPr>
              <a:t>W3C correlation</a:t>
            </a:r>
          </a:p>
        </p:txBody>
      </p:sp>
      <p:sp>
        <p:nvSpPr>
          <p:cNvPr id="20" name="Shape 20"/>
          <p:cNvSpPr/>
          <p:nvPr/>
        </p:nvSpPr>
        <p:spPr>
          <a:xfrm>
            <a:off x="6420000" y="2470000"/>
            <a:ext cx="420000" cy="330000"/>
          </a:xfrm>
          <a:prstGeom prst="rightArrow">
            <a:avLst/>
          </a:prstGeom>
          <a:solidFill>
            <a:srgbClr val="287FD1"/>
          </a:solidFill>
        </p:spPr>
        <p:txBody>
          <a:bodyPr rtlCol="0" anchor="ctr"/>
          <a:lstStyle/>
          <a:p/>
        </p:txBody>
      </p:sp>
      <p:sp>
        <p:nvSpPr>
          <p:cNvPr id="21" name="Shape 21"/>
          <p:cNvSpPr/>
          <p:nvPr/>
        </p:nvSpPr>
        <p:spPr>
          <a:xfrm>
            <a:off x="6900000" y="1450000"/>
            <a:ext cx="1850000" cy="950000"/>
          </a:xfrm>
          <a:prstGeom prst="roundRect">
            <a:avLst/>
          </a:prstGeom>
          <a:solidFill>
            <a:srgbClr val="31275A"/>
          </a:solidFill>
        </p:spPr>
        <p:txBody>
          <a:bodyPr rtlCol="0" anchor="ctr"/>
          <a:lstStyle/>
          <a:p/>
        </p:txBody>
      </p:sp>
      <p:sp>
        <p:nvSpPr>
          <p:cNvPr id="22" name="TextBox 22"/>
          <p:cNvSpPr txBox="1"/>
          <p:nvPr/>
        </p:nvSpPr>
        <p:spPr>
          <a:xfrm>
            <a:off x="7120000" y="1690000"/>
            <a:ext cx="1420000" cy="430000"/>
          </a:xfrm>
          <a:prstGeom prst="rect">
            <a:avLst/>
          </a:prstGeom>
        </p:spPr>
        <p:txBody>
          <a:bodyPr wrap="square" rtlCol="0">
            <a:spAutoFit/>
          </a:bodyPr>
          <a:lstStyle/>
          <a:p>
            <a:r>
              <a:rPr b="1" sz="1500">
                <a:solidFill>
                  <a:srgbClr val="F7FAFC"/>
                </a:solidFill>
                <a:latin typeface="Segoe UI Semibold"/>
              </a:rPr>
              <a:t>Azure AI Foundry</a:t>
            </a:r>
          </a:p>
          <a:p>
            <a:r>
              <a:rPr sz="1100">
                <a:solidFill>
                  <a:srgbClr val="D6CCFF"/>
                </a:solidFill>
                <a:latin typeface="Segoe UI"/>
              </a:rPr>
              <a:t>gpt-4.1-mini</a:t>
            </a:r>
          </a:p>
        </p:txBody>
      </p:sp>
      <p:sp>
        <p:nvSpPr>
          <p:cNvPr id="23" name="Shape 23"/>
          <p:cNvSpPr/>
          <p:nvPr/>
        </p:nvSpPr>
        <p:spPr>
          <a:xfrm>
            <a:off x="6900000" y="2720000"/>
            <a:ext cx="1850000" cy="950000"/>
          </a:xfrm>
          <a:prstGeom prst="roundRect">
            <a:avLst/>
          </a:prstGeom>
          <a:solidFill>
            <a:srgbClr val="21354B"/>
          </a:solidFill>
        </p:spPr>
        <p:txBody>
          <a:bodyPr rtlCol="0" anchor="ctr"/>
          <a:lstStyle/>
          <a:p/>
        </p:txBody>
      </p:sp>
      <p:sp>
        <p:nvSpPr>
          <p:cNvPr id="24" name="TextBox 24"/>
          <p:cNvSpPr txBox="1"/>
          <p:nvPr/>
        </p:nvSpPr>
        <p:spPr>
          <a:xfrm>
            <a:off x="7120000" y="2960000"/>
            <a:ext cx="1420000" cy="430000"/>
          </a:xfrm>
          <a:prstGeom prst="rect">
            <a:avLst/>
          </a:prstGeom>
        </p:spPr>
        <p:txBody>
          <a:bodyPr wrap="square" rtlCol="0">
            <a:spAutoFit/>
          </a:bodyPr>
          <a:lstStyle/>
          <a:p>
            <a:r>
              <a:rPr b="1" sz="1500">
                <a:solidFill>
                  <a:srgbClr val="F7FAFC"/>
                </a:solidFill>
                <a:latin typeface="Segoe UI Semibold"/>
              </a:rPr>
              <a:t>Remote MCP</a:t>
            </a:r>
          </a:p>
          <a:p>
            <a:r>
              <a:rPr sz="1100">
                <a:solidFill>
                  <a:srgbClr val="C7D8E8"/>
                </a:solidFill>
                <a:latin typeface="Segoe UI"/>
              </a:rPr>
              <a:t>Microsoft Learn</a:t>
            </a:r>
          </a:p>
        </p:txBody>
      </p:sp>
      <p:sp>
        <p:nvSpPr>
          <p:cNvPr id="25" name="Shape 25"/>
          <p:cNvSpPr/>
          <p:nvPr/>
        </p:nvSpPr>
        <p:spPr>
          <a:xfrm>
            <a:off x="3850000" y="4250000"/>
            <a:ext cx="360000" cy="470000"/>
          </a:xfrm>
          <a:prstGeom prst="downArrow">
            <a:avLst/>
          </a:prstGeom>
          <a:solidFill>
            <a:srgbClr val="6CCB5F"/>
          </a:solidFill>
        </p:spPr>
        <p:txBody>
          <a:bodyPr rtlCol="0" anchor="ctr"/>
          <a:lstStyle/>
          <a:p/>
        </p:txBody>
      </p:sp>
      <p:sp>
        <p:nvSpPr>
          <p:cNvPr id="26" name="Shape 26"/>
          <p:cNvSpPr/>
          <p:nvPr/>
        </p:nvSpPr>
        <p:spPr>
          <a:xfrm>
            <a:off x="4700000" y="4150000"/>
            <a:ext cx="4050000" cy="1610000"/>
          </a:xfrm>
          <a:prstGeom prst="roundRect">
            <a:avLst/>
          </a:prstGeom>
          <a:solidFill>
            <a:srgbClr val="12342E"/>
          </a:solidFill>
        </p:spPr>
        <p:txBody>
          <a:bodyPr rtlCol="0" anchor="ctr"/>
          <a:lstStyle/>
          <a:p/>
        </p:txBody>
      </p:sp>
      <p:sp>
        <p:nvSpPr>
          <p:cNvPr id="27" name="TextBox 27"/>
          <p:cNvSpPr txBox="1"/>
          <p:nvPr/>
        </p:nvSpPr>
        <p:spPr>
          <a:xfrm>
            <a:off x="4940000" y="4380000"/>
            <a:ext cx="1900000" cy="330000"/>
          </a:xfrm>
          <a:prstGeom prst="rect">
            <a:avLst/>
          </a:prstGeom>
        </p:spPr>
        <p:txBody>
          <a:bodyPr wrap="square" rtlCol="0">
            <a:spAutoFit/>
          </a:bodyPr>
          <a:lstStyle/>
          <a:p>
            <a:r>
              <a:rPr b="1" sz="1100" spc="70">
                <a:solidFill>
                  <a:srgbClr val="80E1BB"/>
                </a:solidFill>
                <a:latin typeface="Segoe UI"/>
              </a:rPr>
              <a:t>CUSTOMER ACA SANDBOX GROUP</a:t>
            </a:r>
          </a:p>
        </p:txBody>
      </p:sp>
      <p:sp>
        <p:nvSpPr>
          <p:cNvPr id="28" name="Shape 28"/>
          <p:cNvSpPr/>
          <p:nvPr/>
        </p:nvSpPr>
        <p:spPr>
          <a:xfrm>
            <a:off x="4950000" y="4870000"/>
            <a:ext cx="1500000" cy="650000"/>
          </a:xfrm>
          <a:prstGeom prst="roundRect">
            <a:avLst/>
          </a:prstGeom>
          <a:solidFill>
            <a:srgbClr val="1A5549"/>
          </a:solidFill>
        </p:spPr>
        <p:txBody>
          <a:bodyPr rtlCol="0" anchor="ctr"/>
          <a:lstStyle/>
          <a:p/>
        </p:txBody>
      </p:sp>
      <p:sp>
        <p:nvSpPr>
          <p:cNvPr id="29" name="TextBox 29"/>
          <p:cNvSpPr txBox="1"/>
          <p:nvPr/>
        </p:nvSpPr>
        <p:spPr>
          <a:xfrm>
            <a:off x="5140000" y="5030000"/>
            <a:ext cx="1150000" cy="280000"/>
          </a:xfrm>
          <a:prstGeom prst="rect">
            <a:avLst/>
          </a:prstGeom>
        </p:spPr>
        <p:txBody>
          <a:bodyPr wrap="square" rtlCol="0">
            <a:spAutoFit/>
          </a:bodyPr>
          <a:lstStyle/>
          <a:p>
            <a:r>
              <a:rPr b="1" sz="1400">
                <a:solidFill>
                  <a:srgbClr val="F7FAFC"/>
                </a:solidFill>
                <a:latin typeface="Segoe UI Semibold"/>
              </a:rPr>
              <a:t>Fresh sandbox</a:t>
            </a:r>
          </a:p>
        </p:txBody>
      </p:sp>
      <p:sp>
        <p:nvSpPr>
          <p:cNvPr id="30" name="TextBox 30"/>
          <p:cNvSpPr txBox="1"/>
          <p:nvPr/>
        </p:nvSpPr>
        <p:spPr>
          <a:xfrm>
            <a:off x="6750000" y="4740000"/>
            <a:ext cx="1700000" cy="700000"/>
          </a:xfrm>
          <a:prstGeom prst="rect">
            <a:avLst/>
          </a:prstGeom>
        </p:spPr>
        <p:txBody>
          <a:bodyPr wrap="square" rtlCol="0">
            <a:spAutoFit/>
          </a:bodyPr>
          <a:lstStyle/>
          <a:p>
            <a:r>
              <a:rPr b="1" sz="1200">
                <a:solidFill>
                  <a:srgbClr val="D0EEE2"/>
                </a:solidFill>
                <a:latin typeface="Segoe UI"/>
              </a:rPr>
              <a:t>customer_probe.py</a:t>
            </a:r>
          </a:p>
          <a:p>
            <a:r>
              <a:rPr sz="1100">
                <a:solidFill>
                  <a:srgbClr val="A9DBC8"/>
                </a:solidFill>
                <a:latin typeface="Segoe UI"/>
              </a:rPr>
              <a:t>shell | files | search</a:t>
            </a:r>
          </a:p>
          <a:p>
            <a:r>
              <a:rPr sz="1100">
                <a:solidFill>
                  <a:srgbClr val="A9DBC8"/>
                </a:solidFill>
                <a:latin typeface="Segoe UI"/>
              </a:rPr>
              <a:t>Customer UAMI + egress</a:t>
            </a:r>
          </a:p>
        </p:txBody>
      </p:sp>
      <p:sp>
        <p:nvSpPr>
          <p:cNvPr id="31" name="TextBox 31"/>
          <p:cNvSpPr txBox="1"/>
          <p:nvPr/>
        </p:nvSpPr>
        <p:spPr>
          <a:xfrm>
            <a:off x="520000" y="6340000"/>
            <a:ext cx="8200000" cy="190000"/>
          </a:xfrm>
          <a:prstGeom prst="rect">
            <a:avLst/>
          </a:prstGeom>
        </p:spPr>
        <p:txBody>
          <a:bodyPr wrap="square" rtlCol="0">
            <a:spAutoFit/>
          </a:bodyPr>
          <a:lstStyle/>
          <a:p>
            <a:r>
              <a:rPr sz="1000">
                <a:solidFill>
                  <a:srgbClr val="71839B"/>
                </a:solidFill>
                <a:latin typeface="Segoe UI"/>
              </a:rPr>
              <a:t>Local executable tools are intercepted by exact stub identity; remote MCP stays on the worker-side pipeline.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0" y="0"/>
            <a:ext cx="9144000" cy="6858000"/>
          </a:xfrm>
          <a:prstGeom prst="rect">
            <a:avLst/>
          </a:prstGeom>
          <a:solidFill>
            <a:srgbClr val="0B1220"/>
          </a:solidFill>
        </p:spPr>
        <p:txBody>
          <a:bodyPr rtlCol="0" anchor="ctr"/>
          <a:lstStyle/>
          <a:p/>
        </p:txBody>
      </p:sp>
      <p:sp>
        <p:nvSpPr>
          <p:cNvPr id="3" name="Shape 3"/>
          <p:cNvSpPr/>
          <p:nvPr/>
        </p:nvSpPr>
        <p:spPr>
          <a:xfrm>
            <a:off x="0" y="0"/>
            <a:ext cx="9144000" cy="90000"/>
          </a:xfrm>
          <a:prstGeom prst="rect">
            <a:avLst/>
          </a:prstGeom>
          <a:solidFill>
            <a:srgbClr val="6CCB5F"/>
          </a:solidFill>
        </p:spPr>
        <p:txBody>
          <a:bodyPr rtlCol="0" anchor="ctr"/>
          <a:lstStyle/>
          <a:p/>
        </p:txBody>
      </p:sp>
      <p:sp>
        <p:nvSpPr>
          <p:cNvPr id="4" name="TextBox 4"/>
          <p:cNvSpPr txBox="1"/>
          <p:nvPr/>
        </p:nvSpPr>
        <p:spPr>
          <a:xfrm>
            <a:off x="520000" y="350000"/>
            <a:ext cx="7900000" cy="500000"/>
          </a:xfrm>
          <a:prstGeom prst="rect">
            <a:avLst/>
          </a:prstGeom>
        </p:spPr>
        <p:txBody>
          <a:bodyPr wrap="square" rtlCol="0">
            <a:spAutoFit/>
          </a:bodyPr>
          <a:lstStyle/>
          <a:p>
            <a:r>
              <a:rPr b="1" sz="2800">
                <a:solidFill>
                  <a:srgbClr val="F7FAFC"/>
                </a:solidFill>
                <a:latin typeface="Segoe UI Semibold"/>
              </a:rPr>
              <a:t>One fresh sandbox, one bounded invocation</a:t>
            </a:r>
          </a:p>
        </p:txBody>
      </p:sp>
      <p:sp>
        <p:nvSpPr>
          <p:cNvPr id="5" name="TextBox 5"/>
          <p:cNvSpPr txBox="1"/>
          <p:nvPr/>
        </p:nvSpPr>
        <p:spPr>
          <a:xfrm>
            <a:off x="540000" y="920000"/>
            <a:ext cx="7900000" cy="270000"/>
          </a:xfrm>
          <a:prstGeom prst="rect">
            <a:avLst/>
          </a:prstGeom>
        </p:spPr>
        <p:txBody>
          <a:bodyPr wrap="square" rtlCol="0">
            <a:spAutoFit/>
          </a:bodyPr>
          <a:lstStyle/>
          <a:p>
            <a:r>
              <a:rPr b="1" sz="1000" spc="80">
                <a:solidFill>
                  <a:srgbClr val="80E1BB"/>
                </a:solidFill>
                <a:latin typeface="Segoe UI"/>
              </a:rPr>
              <a:t>MEASURED CRITICAL PATH  |  FALLBACK-QUALIFIED LIVE RUN</a:t>
            </a:r>
          </a:p>
        </p:txBody>
      </p:sp>
      <p:sp>
        <p:nvSpPr>
          <p:cNvPr id="6" name="Shape 6"/>
          <p:cNvSpPr/>
          <p:nvPr/>
        </p:nvSpPr>
        <p:spPr>
          <a:xfrm>
            <a:off x="430000" y="1620000"/>
            <a:ext cx="1510000" cy="2580000"/>
          </a:xfrm>
          <a:prstGeom prst="roundRect">
            <a:avLst/>
          </a:prstGeom>
          <a:solidFill>
            <a:srgbClr val="152942"/>
          </a:solidFill>
        </p:spPr>
        <p:txBody>
          <a:bodyPr rtlCol="0" anchor="ctr"/>
          <a:lstStyle/>
          <a:p/>
        </p:txBody>
      </p:sp>
      <p:sp>
        <p:nvSpPr>
          <p:cNvPr id="7" name="TextBox 7"/>
          <p:cNvSpPr txBox="1"/>
          <p:nvPr/>
        </p:nvSpPr>
        <p:spPr>
          <a:xfrm>
            <a:off x="630000" y="1830000"/>
            <a:ext cx="280000" cy="300000"/>
          </a:xfrm>
          <a:prstGeom prst="rect">
            <a:avLst/>
          </a:prstGeom>
        </p:spPr>
        <p:txBody>
          <a:bodyPr wrap="square" rtlCol="0">
            <a:spAutoFit/>
          </a:bodyPr>
          <a:lstStyle/>
          <a:p>
            <a:r>
              <a:rPr b="1" sz="2000">
                <a:solidFill>
                  <a:srgbClr val="50E6FF"/>
                </a:solidFill>
                <a:latin typeface="Segoe UI Semibold"/>
              </a:rPr>
              <a:t>01</a:t>
            </a:r>
          </a:p>
        </p:txBody>
      </p:sp>
      <p:sp>
        <p:nvSpPr>
          <p:cNvPr id="8" name="TextBox 8"/>
          <p:cNvSpPr txBox="1"/>
          <p:nvPr/>
        </p:nvSpPr>
        <p:spPr>
          <a:xfrm>
            <a:off x="630000" y="2280000"/>
            <a:ext cx="1080000" cy="360000"/>
          </a:xfrm>
          <a:prstGeom prst="rect">
            <a:avLst/>
          </a:prstGeom>
        </p:spPr>
        <p:txBody>
          <a:bodyPr wrap="square" rtlCol="0">
            <a:spAutoFit/>
          </a:bodyPr>
          <a:lstStyle/>
          <a:p>
            <a:r>
              <a:rPr b="1" sz="1600">
                <a:solidFill>
                  <a:srgbClr val="F7FAFC"/>
                </a:solidFill>
                <a:latin typeface="Segoe UI Semibold"/>
              </a:rPr>
              <a:t>CREATE</a:t>
            </a:r>
          </a:p>
        </p:txBody>
      </p:sp>
      <p:sp>
        <p:nvSpPr>
          <p:cNvPr id="9" name="TextBox 9"/>
          <p:cNvSpPr txBox="1"/>
          <p:nvPr/>
        </p:nvSpPr>
        <p:spPr>
          <a:xfrm>
            <a:off x="630000" y="2780000"/>
            <a:ext cx="1080000" cy="760000"/>
          </a:xfrm>
          <a:prstGeom prst="rect">
            <a:avLst/>
          </a:prstGeom>
        </p:spPr>
        <p:txBody>
          <a:bodyPr wrap="square" rtlCol="0">
            <a:spAutoFit/>
          </a:bodyPr>
          <a:lstStyle/>
          <a:p>
            <a:r>
              <a:rPr sz="1200">
                <a:solidFill>
                  <a:srgbClr val="B8C7DC"/>
                </a:solidFill>
                <a:latin typeface="Segoe UI"/>
              </a:rPr>
              <a:t>Fresh sandbox</a:t>
            </a:r>
          </a:p>
          <a:p>
            <a:r>
              <a:rPr sz="1200">
                <a:solidFill>
                  <a:srgbClr val="B8C7DC"/>
                </a:solidFill>
                <a:latin typeface="Segoe UI"/>
              </a:rPr>
              <a:t>No public ingress</a:t>
            </a:r>
          </a:p>
          <a:p>
            <a:r>
              <a:rPr sz="1200">
                <a:solidFill>
                  <a:srgbClr val="B8C7DC"/>
                </a:solidFill>
                <a:latin typeface="Segoe UI"/>
              </a:rPr>
              <a:t>Customer policy</a:t>
            </a:r>
          </a:p>
        </p:txBody>
      </p:sp>
      <p:sp>
        <p:nvSpPr>
          <p:cNvPr id="10" name="TextBox 10"/>
          <p:cNvSpPr txBox="1"/>
          <p:nvPr/>
        </p:nvSpPr>
        <p:spPr>
          <a:xfrm>
            <a:off x="630000" y="3610000"/>
            <a:ext cx="1080000" cy="280000"/>
          </a:xfrm>
          <a:prstGeom prst="rect">
            <a:avLst/>
          </a:prstGeom>
        </p:spPr>
        <p:txBody>
          <a:bodyPr wrap="square" rtlCol="0">
            <a:spAutoFit/>
          </a:bodyPr>
          <a:lstStyle/>
          <a:p>
            <a:r>
              <a:rPr b="1" sz="1400">
                <a:solidFill>
                  <a:srgbClr val="66C7FF"/>
                </a:solidFill>
                <a:latin typeface="Segoe UI Semibold"/>
              </a:rPr>
              <a:t>3.15s avg</a:t>
            </a:r>
          </a:p>
        </p:txBody>
      </p:sp>
      <p:sp>
        <p:nvSpPr>
          <p:cNvPr id="11" name="Shape 11"/>
          <p:cNvSpPr/>
          <p:nvPr/>
        </p:nvSpPr>
        <p:spPr>
          <a:xfrm>
            <a:off x="2090000" y="1620000"/>
            <a:ext cx="1510000" cy="2580000"/>
          </a:xfrm>
          <a:prstGeom prst="roundRect">
            <a:avLst/>
          </a:prstGeom>
          <a:solidFill>
            <a:srgbClr val="162C3C"/>
          </a:solidFill>
        </p:spPr>
        <p:txBody>
          <a:bodyPr rtlCol="0" anchor="ctr"/>
          <a:lstStyle/>
          <a:p/>
        </p:txBody>
      </p:sp>
      <p:sp>
        <p:nvSpPr>
          <p:cNvPr id="12" name="TextBox 12"/>
          <p:cNvSpPr txBox="1"/>
          <p:nvPr/>
        </p:nvSpPr>
        <p:spPr>
          <a:xfrm>
            <a:off x="2290000" y="1830000"/>
            <a:ext cx="280000" cy="300000"/>
          </a:xfrm>
          <a:prstGeom prst="rect">
            <a:avLst/>
          </a:prstGeom>
        </p:spPr>
        <p:txBody>
          <a:bodyPr wrap="square" rtlCol="0">
            <a:spAutoFit/>
          </a:bodyPr>
          <a:lstStyle/>
          <a:p>
            <a:r>
              <a:rPr b="1" sz="2000">
                <a:solidFill>
                  <a:srgbClr val="50E6FF"/>
                </a:solidFill>
                <a:latin typeface="Segoe UI Semibold"/>
              </a:rPr>
              <a:t>02</a:t>
            </a:r>
          </a:p>
        </p:txBody>
      </p:sp>
      <p:sp>
        <p:nvSpPr>
          <p:cNvPr id="13" name="TextBox 13"/>
          <p:cNvSpPr txBox="1"/>
          <p:nvPr/>
        </p:nvSpPr>
        <p:spPr>
          <a:xfrm>
            <a:off x="2290000" y="2280000"/>
            <a:ext cx="1080000" cy="360000"/>
          </a:xfrm>
          <a:prstGeom prst="rect">
            <a:avLst/>
          </a:prstGeom>
        </p:spPr>
        <p:txBody>
          <a:bodyPr wrap="square" rtlCol="0">
            <a:spAutoFit/>
          </a:bodyPr>
          <a:lstStyle/>
          <a:p>
            <a:r>
              <a:rPr b="1" sz="1600">
                <a:solidFill>
                  <a:srgbClr val="F7FAFC"/>
                </a:solidFill>
                <a:latin typeface="Segoe UI Semibold"/>
              </a:rPr>
              <a:t>PACKAGE</a:t>
            </a:r>
          </a:p>
        </p:txBody>
      </p:sp>
      <p:sp>
        <p:nvSpPr>
          <p:cNvPr id="14" name="TextBox 14"/>
          <p:cNvSpPr txBox="1"/>
          <p:nvPr/>
        </p:nvSpPr>
        <p:spPr>
          <a:xfrm>
            <a:off x="2290000" y="2780000"/>
            <a:ext cx="1080000" cy="760000"/>
          </a:xfrm>
          <a:prstGeom prst="rect">
            <a:avLst/>
          </a:prstGeom>
        </p:spPr>
        <p:txBody>
          <a:bodyPr wrap="square" rtlCol="0">
            <a:spAutoFit/>
          </a:bodyPr>
          <a:lstStyle/>
          <a:p>
            <a:r>
              <a:rPr sz="1200">
                <a:solidFill>
                  <a:srgbClr val="B8C7DC"/>
                </a:solidFill>
                <a:latin typeface="Segoe UI"/>
              </a:rPr>
              <a:t>Thin tool bundle</a:t>
            </a:r>
          </a:p>
          <a:p>
            <a:r>
              <a:rPr sz="1200">
                <a:solidFill>
                  <a:srgbClr val="B8C7DC"/>
                </a:solidFill>
                <a:latin typeface="Segoe UI"/>
              </a:rPr>
              <a:t>Upload once</a:t>
            </a:r>
          </a:p>
          <a:p>
            <a:r>
              <a:rPr sz="1200">
                <a:solidFill>
                  <a:srgbClr val="B8C7DC"/>
                </a:solidFill>
                <a:latin typeface="Segoe UI"/>
              </a:rPr>
              <a:t>No readback</a:t>
            </a:r>
          </a:p>
        </p:txBody>
      </p:sp>
      <p:sp>
        <p:nvSpPr>
          <p:cNvPr id="15" name="TextBox 15"/>
          <p:cNvSpPr txBox="1"/>
          <p:nvPr/>
        </p:nvSpPr>
        <p:spPr>
          <a:xfrm>
            <a:off x="2290000" y="3610000"/>
            <a:ext cx="1080000" cy="280000"/>
          </a:xfrm>
          <a:prstGeom prst="rect">
            <a:avLst/>
          </a:prstGeom>
        </p:spPr>
        <p:txBody>
          <a:bodyPr wrap="square" rtlCol="0">
            <a:spAutoFit/>
          </a:bodyPr>
          <a:lstStyle/>
          <a:p>
            <a:r>
              <a:rPr b="1" sz="1400">
                <a:solidFill>
                  <a:srgbClr val="80E1BB"/>
                </a:solidFill>
                <a:latin typeface="Segoe UI Semibold"/>
              </a:rPr>
              <a:t>103ms avg</a:t>
            </a:r>
          </a:p>
        </p:txBody>
      </p:sp>
      <p:sp>
        <p:nvSpPr>
          <p:cNvPr id="16" name="Shape 16"/>
          <p:cNvSpPr/>
          <p:nvPr/>
        </p:nvSpPr>
        <p:spPr>
          <a:xfrm>
            <a:off x="3750000" y="1620000"/>
            <a:ext cx="1510000" cy="2580000"/>
          </a:xfrm>
          <a:prstGeom prst="roundRect">
            <a:avLst/>
          </a:prstGeom>
          <a:solidFill>
            <a:srgbClr val="18302F"/>
          </a:solidFill>
        </p:spPr>
        <p:txBody>
          <a:bodyPr rtlCol="0" anchor="ctr"/>
          <a:lstStyle/>
          <a:p/>
        </p:txBody>
      </p:sp>
      <p:sp>
        <p:nvSpPr>
          <p:cNvPr id="17" name="TextBox 17"/>
          <p:cNvSpPr txBox="1"/>
          <p:nvPr/>
        </p:nvSpPr>
        <p:spPr>
          <a:xfrm>
            <a:off x="3950000" y="1830000"/>
            <a:ext cx="280000" cy="300000"/>
          </a:xfrm>
          <a:prstGeom prst="rect">
            <a:avLst/>
          </a:prstGeom>
        </p:spPr>
        <p:txBody>
          <a:bodyPr wrap="square" rtlCol="0">
            <a:spAutoFit/>
          </a:bodyPr>
          <a:lstStyle/>
          <a:p>
            <a:r>
              <a:rPr b="1" sz="2000">
                <a:solidFill>
                  <a:srgbClr val="80E1BB"/>
                </a:solidFill>
                <a:latin typeface="Segoe UI Semibold"/>
              </a:rPr>
              <a:t>03</a:t>
            </a:r>
          </a:p>
        </p:txBody>
      </p:sp>
      <p:sp>
        <p:nvSpPr>
          <p:cNvPr id="18" name="TextBox 18"/>
          <p:cNvSpPr txBox="1"/>
          <p:nvPr/>
        </p:nvSpPr>
        <p:spPr>
          <a:xfrm>
            <a:off x="3950000" y="2280000"/>
            <a:ext cx="1080000" cy="360000"/>
          </a:xfrm>
          <a:prstGeom prst="rect">
            <a:avLst/>
          </a:prstGeom>
        </p:spPr>
        <p:txBody>
          <a:bodyPr wrap="square" rtlCol="0">
            <a:spAutoFit/>
          </a:bodyPr>
          <a:lstStyle/>
          <a:p>
            <a:r>
              <a:rPr b="1" sz="1400">
                <a:solidFill>
                  <a:srgbClr val="F7FAFC"/>
                </a:solidFill>
                <a:latin typeface="Segoe UI Semibold"/>
              </a:rPr>
              <a:t>VERIFY + READY</a:t>
            </a:r>
          </a:p>
        </p:txBody>
      </p:sp>
      <p:sp>
        <p:nvSpPr>
          <p:cNvPr id="19" name="TextBox 19"/>
          <p:cNvSpPr txBox="1"/>
          <p:nvPr/>
        </p:nvSpPr>
        <p:spPr>
          <a:xfrm>
            <a:off x="3950000" y="2780000"/>
            <a:ext cx="1080000" cy="760000"/>
          </a:xfrm>
          <a:prstGeom prst="rect">
            <a:avLst/>
          </a:prstGeom>
        </p:spPr>
        <p:txBody>
          <a:bodyPr wrap="square" rtlCol="0">
            <a:spAutoFit/>
          </a:bodyPr>
          <a:lstStyle/>
          <a:p>
            <a:r>
              <a:rPr sz="1200">
                <a:solidFill>
                  <a:srgbClr val="B8C7DC"/>
                </a:solidFill>
                <a:latin typeface="Segoe UI"/>
              </a:rPr>
              <a:t>SHA-256 in sandbox</a:t>
            </a:r>
          </a:p>
          <a:p>
            <a:r>
              <a:rPr sz="1200">
                <a:solidFill>
                  <a:srgbClr val="B8C7DC"/>
                </a:solidFill>
                <a:latin typeface="Segoe UI"/>
              </a:rPr>
              <a:t>Extract + start</a:t>
            </a:r>
          </a:p>
          <a:p>
            <a:r>
              <a:rPr sz="1200">
                <a:solidFill>
                  <a:srgbClr val="B8C7DC"/>
                </a:solidFill>
                <a:latin typeface="Segoe UI"/>
              </a:rPr>
              <a:t>Publish manifest</a:t>
            </a:r>
          </a:p>
        </p:txBody>
      </p:sp>
      <p:sp>
        <p:nvSpPr>
          <p:cNvPr id="20" name="TextBox 20"/>
          <p:cNvSpPr txBox="1"/>
          <p:nvPr/>
        </p:nvSpPr>
        <p:spPr>
          <a:xfrm>
            <a:off x="3950000" y="3610000"/>
            <a:ext cx="1080000" cy="280000"/>
          </a:xfrm>
          <a:prstGeom prst="rect">
            <a:avLst/>
          </a:prstGeom>
        </p:spPr>
        <p:txBody>
          <a:bodyPr wrap="square" rtlCol="0">
            <a:spAutoFit/>
          </a:bodyPr>
          <a:lstStyle/>
          <a:p>
            <a:r>
              <a:rPr b="1" sz="1400">
                <a:solidFill>
                  <a:srgbClr val="80E1BB"/>
                </a:solidFill>
                <a:latin typeface="Segoe UI Semibold"/>
              </a:rPr>
              <a:t>464ms avg</a:t>
            </a:r>
          </a:p>
        </p:txBody>
      </p:sp>
      <p:sp>
        <p:nvSpPr>
          <p:cNvPr id="21" name="Shape 21"/>
          <p:cNvSpPr/>
          <p:nvPr/>
        </p:nvSpPr>
        <p:spPr>
          <a:xfrm>
            <a:off x="5410000" y="1620000"/>
            <a:ext cx="1510000" cy="2580000"/>
          </a:xfrm>
          <a:prstGeom prst="roundRect">
            <a:avLst/>
          </a:prstGeom>
          <a:solidFill>
            <a:srgbClr val="24233F"/>
          </a:solidFill>
        </p:spPr>
        <p:txBody>
          <a:bodyPr rtlCol="0" anchor="ctr"/>
          <a:lstStyle/>
          <a:p/>
        </p:txBody>
      </p:sp>
      <p:sp>
        <p:nvSpPr>
          <p:cNvPr id="22" name="TextBox 22"/>
          <p:cNvSpPr txBox="1"/>
          <p:nvPr/>
        </p:nvSpPr>
        <p:spPr>
          <a:xfrm>
            <a:off x="5610000" y="1830000"/>
            <a:ext cx="280000" cy="300000"/>
          </a:xfrm>
          <a:prstGeom prst="rect">
            <a:avLst/>
          </a:prstGeom>
        </p:spPr>
        <p:txBody>
          <a:bodyPr wrap="square" rtlCol="0">
            <a:spAutoFit/>
          </a:bodyPr>
          <a:lstStyle/>
          <a:p>
            <a:r>
              <a:rPr b="1" sz="2000">
                <a:solidFill>
                  <a:srgbClr val="BFB1FF"/>
                </a:solidFill>
                <a:latin typeface="Segoe UI Semibold"/>
              </a:rPr>
              <a:t>04</a:t>
            </a:r>
          </a:p>
        </p:txBody>
      </p:sp>
      <p:sp>
        <p:nvSpPr>
          <p:cNvPr id="23" name="TextBox 23"/>
          <p:cNvSpPr txBox="1"/>
          <p:nvPr/>
        </p:nvSpPr>
        <p:spPr>
          <a:xfrm>
            <a:off x="5610000" y="2280000"/>
            <a:ext cx="1080000" cy="360000"/>
          </a:xfrm>
          <a:prstGeom prst="rect">
            <a:avLst/>
          </a:prstGeom>
        </p:spPr>
        <p:txBody>
          <a:bodyPr wrap="square" rtlCol="0">
            <a:spAutoFit/>
          </a:bodyPr>
          <a:lstStyle/>
          <a:p>
            <a:r>
              <a:rPr b="1" sz="1600">
                <a:solidFill>
                  <a:srgbClr val="F7FAFC"/>
                </a:solidFill>
                <a:latin typeface="Segoe UI Semibold"/>
              </a:rPr>
              <a:t>EXECUTE</a:t>
            </a:r>
          </a:p>
        </p:txBody>
      </p:sp>
      <p:sp>
        <p:nvSpPr>
          <p:cNvPr id="24" name="TextBox 24"/>
          <p:cNvSpPr txBox="1"/>
          <p:nvPr/>
        </p:nvSpPr>
        <p:spPr>
          <a:xfrm>
            <a:off x="5610000" y="2780000"/>
            <a:ext cx="1080000" cy="760000"/>
          </a:xfrm>
          <a:prstGeom prst="rect">
            <a:avLst/>
          </a:prstGeom>
        </p:spPr>
        <p:txBody>
          <a:bodyPr wrap="square" rtlCol="0">
            <a:spAutoFit/>
          </a:bodyPr>
          <a:lstStyle/>
          <a:p>
            <a:r>
              <a:rPr sz="1200">
                <a:solidFill>
                  <a:srgbClr val="B8C7DC"/>
                </a:solidFill>
                <a:latin typeface="Segoe UI"/>
              </a:rPr>
              <a:t>Strict call journal</a:t>
            </a:r>
          </a:p>
          <a:p>
            <a:r>
              <a:rPr sz="1200">
                <a:solidFill>
                  <a:srgbClr val="B8C7DC"/>
                </a:solidFill>
                <a:latin typeface="Segoe UI"/>
              </a:rPr>
              <a:t>Shared executor</a:t>
            </a:r>
          </a:p>
          <a:p>
            <a:r>
              <a:rPr sz="1200">
                <a:solidFill>
                  <a:srgbClr val="B8C7DC"/>
                </a:solidFill>
                <a:latin typeface="Segoe UI"/>
              </a:rPr>
              <a:t>Idempotent call_id</a:t>
            </a:r>
          </a:p>
        </p:txBody>
      </p:sp>
      <p:sp>
        <p:nvSpPr>
          <p:cNvPr id="25" name="TextBox 25"/>
          <p:cNvSpPr txBox="1"/>
          <p:nvPr/>
        </p:nvSpPr>
        <p:spPr>
          <a:xfrm>
            <a:off x="5610000" y="3610000"/>
            <a:ext cx="1080000" cy="280000"/>
          </a:xfrm>
          <a:prstGeom prst="rect">
            <a:avLst/>
          </a:prstGeom>
        </p:spPr>
        <p:txBody>
          <a:bodyPr wrap="square" rtlCol="0">
            <a:spAutoFit/>
          </a:bodyPr>
          <a:lstStyle/>
          <a:p>
            <a:r>
              <a:rPr b="1" sz="1300">
                <a:solidFill>
                  <a:srgbClr val="BFB1FF"/>
                </a:solidFill>
                <a:latin typeface="Segoe UI Semibold"/>
              </a:rPr>
              <a:t>0.28ms tool avg</a:t>
            </a:r>
          </a:p>
        </p:txBody>
      </p:sp>
      <p:sp>
        <p:nvSpPr>
          <p:cNvPr id="26" name="Shape 26"/>
          <p:cNvSpPr/>
          <p:nvPr/>
        </p:nvSpPr>
        <p:spPr>
          <a:xfrm>
            <a:off x="7070000" y="1620000"/>
            <a:ext cx="1510000" cy="2580000"/>
          </a:xfrm>
          <a:prstGeom prst="roundRect">
            <a:avLst/>
          </a:prstGeom>
          <a:solidFill>
            <a:srgbClr val="2B2B24"/>
          </a:solidFill>
        </p:spPr>
        <p:txBody>
          <a:bodyPr rtlCol="0" anchor="ctr"/>
          <a:lstStyle/>
          <a:p/>
        </p:txBody>
      </p:sp>
      <p:sp>
        <p:nvSpPr>
          <p:cNvPr id="27" name="TextBox 27"/>
          <p:cNvSpPr txBox="1"/>
          <p:nvPr/>
        </p:nvSpPr>
        <p:spPr>
          <a:xfrm>
            <a:off x="7270000" y="1830000"/>
            <a:ext cx="280000" cy="300000"/>
          </a:xfrm>
          <a:prstGeom prst="rect">
            <a:avLst/>
          </a:prstGeom>
        </p:spPr>
        <p:txBody>
          <a:bodyPr wrap="square" rtlCol="0">
            <a:spAutoFit/>
          </a:bodyPr>
          <a:lstStyle/>
          <a:p>
            <a:r>
              <a:rPr b="1" sz="2000">
                <a:solidFill>
                  <a:srgbClr val="FFDA6A"/>
                </a:solidFill>
                <a:latin typeface="Segoe UI Semibold"/>
              </a:rPr>
              <a:t>05</a:t>
            </a:r>
          </a:p>
        </p:txBody>
      </p:sp>
      <p:sp>
        <p:nvSpPr>
          <p:cNvPr id="28" name="TextBox 28"/>
          <p:cNvSpPr txBox="1"/>
          <p:nvPr/>
        </p:nvSpPr>
        <p:spPr>
          <a:xfrm>
            <a:off x="7270000" y="2280000"/>
            <a:ext cx="1080000" cy="360000"/>
          </a:xfrm>
          <a:prstGeom prst="rect">
            <a:avLst/>
          </a:prstGeom>
        </p:spPr>
        <p:txBody>
          <a:bodyPr wrap="square" rtlCol="0">
            <a:spAutoFit/>
          </a:bodyPr>
          <a:lstStyle/>
          <a:p>
            <a:r>
              <a:rPr b="1" sz="1600">
                <a:solidFill>
                  <a:srgbClr val="F7FAFC"/>
                </a:solidFill>
                <a:latin typeface="Segoe UI Semibold"/>
              </a:rPr>
              <a:t>HAND OFF</a:t>
            </a:r>
          </a:p>
        </p:txBody>
      </p:sp>
      <p:sp>
        <p:nvSpPr>
          <p:cNvPr id="29" name="TextBox 29"/>
          <p:cNvSpPr txBox="1"/>
          <p:nvPr/>
        </p:nvSpPr>
        <p:spPr>
          <a:xfrm>
            <a:off x="7270000" y="2780000"/>
            <a:ext cx="1080000" cy="760000"/>
          </a:xfrm>
          <a:prstGeom prst="rect">
            <a:avLst/>
          </a:prstGeom>
        </p:spPr>
        <p:txBody>
          <a:bodyPr wrap="square" rtlCol="0">
            <a:spAutoFit/>
          </a:bodyPr>
          <a:lstStyle/>
          <a:p>
            <a:r>
              <a:rPr sz="1200">
                <a:solidFill>
                  <a:srgbClr val="B8C7DC"/>
                </a:solidFill>
                <a:latin typeface="Segoe UI"/>
              </a:rPr>
              <a:t>Stop admissions</a:t>
            </a:r>
          </a:p>
          <a:p>
            <a:r>
              <a:rPr sz="1200">
                <a:solidFill>
                  <a:srgbClr val="B8C7DC"/>
                </a:solidFill>
                <a:latin typeface="Segoe UI"/>
              </a:rPr>
              <a:t>Shutdown marker</a:t>
            </a:r>
          </a:p>
          <a:p>
            <a:r>
              <a:rPr sz="1200">
                <a:solidFill>
                  <a:srgbClr val="B8C7DC"/>
                </a:solidFill>
                <a:latin typeface="Segoe UI"/>
              </a:rPr>
              <a:t>Exact-ID fallback</a:t>
            </a:r>
          </a:p>
        </p:txBody>
      </p:sp>
      <p:sp>
        <p:nvSpPr>
          <p:cNvPr id="30" name="TextBox 30"/>
          <p:cNvSpPr txBox="1"/>
          <p:nvPr/>
        </p:nvSpPr>
        <p:spPr>
          <a:xfrm>
            <a:off x="7270000" y="3610000"/>
            <a:ext cx="1080000" cy="280000"/>
          </a:xfrm>
          <a:prstGeom prst="rect">
            <a:avLst/>
          </a:prstGeom>
        </p:spPr>
        <p:txBody>
          <a:bodyPr wrap="square" rtlCol="0">
            <a:spAutoFit/>
          </a:bodyPr>
          <a:lstStyle/>
          <a:p>
            <a:r>
              <a:rPr b="1" sz="1400">
                <a:solidFill>
                  <a:srgbClr val="FFDA6A"/>
                </a:solidFill>
                <a:latin typeface="Segoe UI Semibold"/>
              </a:rPr>
              <a:t>77.4ms avg</a:t>
            </a:r>
          </a:p>
        </p:txBody>
      </p:sp>
      <p:sp>
        <p:nvSpPr>
          <p:cNvPr id="31" name="Shape 31"/>
          <p:cNvSpPr/>
          <p:nvPr/>
        </p:nvSpPr>
        <p:spPr>
          <a:xfrm>
            <a:off x="430000" y="4610000"/>
            <a:ext cx="2530000" cy="1180000"/>
          </a:xfrm>
          <a:prstGeom prst="roundRect">
            <a:avLst/>
          </a:prstGeom>
          <a:solidFill>
            <a:srgbClr val="112841"/>
          </a:solidFill>
        </p:spPr>
        <p:txBody>
          <a:bodyPr rtlCol="0" anchor="ctr"/>
          <a:lstStyle/>
          <a:p/>
        </p:txBody>
      </p:sp>
      <p:sp>
        <p:nvSpPr>
          <p:cNvPr id="32" name="TextBox 32"/>
          <p:cNvSpPr txBox="1"/>
          <p:nvPr/>
        </p:nvSpPr>
        <p:spPr>
          <a:xfrm>
            <a:off x="690000" y="4870000"/>
            <a:ext cx="2020000" cy="650000"/>
          </a:xfrm>
          <a:prstGeom prst="rect">
            <a:avLst/>
          </a:prstGeom>
        </p:spPr>
        <p:txBody>
          <a:bodyPr wrap="square" rtlCol="0">
            <a:spAutoFit/>
          </a:bodyPr>
          <a:lstStyle/>
          <a:p>
            <a:r>
              <a:rPr b="1" sz="1200">
                <a:solidFill>
                  <a:srgbClr val="66C7FF"/>
                </a:solidFill>
                <a:latin typeface="Segoe UI Semibold"/>
              </a:rPr>
              <a:t>IDENTITY</a:t>
            </a:r>
          </a:p>
          <a:p>
            <a:r>
              <a:rPr sz="1100">
                <a:solidFill>
                  <a:srgbClr val="B8C7DC"/>
                </a:solidFill>
                <a:latin typeface="Segoe UI"/>
              </a:rPr>
              <a:t>Customer UAMI is separate from the Function controller identity.</a:t>
            </a:r>
          </a:p>
        </p:txBody>
      </p:sp>
      <p:sp>
        <p:nvSpPr>
          <p:cNvPr id="33" name="Shape 33"/>
          <p:cNvSpPr/>
          <p:nvPr/>
        </p:nvSpPr>
        <p:spPr>
          <a:xfrm>
            <a:off x="3305000" y="4610000"/>
            <a:ext cx="2530000" cy="1180000"/>
          </a:xfrm>
          <a:prstGeom prst="roundRect">
            <a:avLst/>
          </a:prstGeom>
          <a:solidFill>
            <a:srgbClr val="12342E"/>
          </a:solidFill>
        </p:spPr>
        <p:txBody>
          <a:bodyPr rtlCol="0" anchor="ctr"/>
          <a:lstStyle/>
          <a:p/>
        </p:txBody>
      </p:sp>
      <p:sp>
        <p:nvSpPr>
          <p:cNvPr id="34" name="TextBox 34"/>
          <p:cNvSpPr txBox="1"/>
          <p:nvPr/>
        </p:nvSpPr>
        <p:spPr>
          <a:xfrm>
            <a:off x="3565000" y="4870000"/>
            <a:ext cx="2020000" cy="650000"/>
          </a:xfrm>
          <a:prstGeom prst="rect">
            <a:avLst/>
          </a:prstGeom>
        </p:spPr>
        <p:txBody>
          <a:bodyPr wrap="square" rtlCol="0">
            <a:spAutoFit/>
          </a:bodyPr>
          <a:lstStyle/>
          <a:p>
            <a:r>
              <a:rPr b="1" sz="1200">
                <a:solidFill>
                  <a:srgbClr val="80E1BB"/>
                </a:solidFill>
                <a:latin typeface="Segoe UI Semibold"/>
              </a:rPr>
              <a:t>NETWORK</a:t>
            </a:r>
          </a:p>
          <a:p>
            <a:r>
              <a:rPr sz="1100">
                <a:solidFill>
                  <a:srgbClr val="C6E4D8"/>
                </a:solidFill>
                <a:latin typeface="Segoe UI"/>
              </a:rPr>
              <a:t>Deny-by-default egress with full inspection; no sandbox ingress.</a:t>
            </a:r>
          </a:p>
        </p:txBody>
      </p:sp>
      <p:sp>
        <p:nvSpPr>
          <p:cNvPr id="35" name="Shape 35"/>
          <p:cNvSpPr/>
          <p:nvPr/>
        </p:nvSpPr>
        <p:spPr>
          <a:xfrm>
            <a:off x="6180000" y="4610000"/>
            <a:ext cx="2400000" cy="1180000"/>
          </a:xfrm>
          <a:prstGeom prst="roundRect">
            <a:avLst/>
          </a:prstGeom>
          <a:solidFill>
            <a:srgbClr val="2B2B24"/>
          </a:solidFill>
        </p:spPr>
        <p:txBody>
          <a:bodyPr rtlCol="0" anchor="ctr"/>
          <a:lstStyle/>
          <a:p/>
        </p:txBody>
      </p:sp>
      <p:sp>
        <p:nvSpPr>
          <p:cNvPr id="36" name="TextBox 36"/>
          <p:cNvSpPr txBox="1"/>
          <p:nvPr/>
        </p:nvSpPr>
        <p:spPr>
          <a:xfrm>
            <a:off x="6440000" y="4870000"/>
            <a:ext cx="1900000" cy="650000"/>
          </a:xfrm>
          <a:prstGeom prst="rect">
            <a:avLst/>
          </a:prstGeom>
        </p:spPr>
        <p:txBody>
          <a:bodyPr wrap="square" rtlCol="0">
            <a:spAutoFit/>
          </a:bodyPr>
          <a:lstStyle/>
          <a:p>
            <a:r>
              <a:rPr b="1" sz="1200">
                <a:solidFill>
                  <a:srgbClr val="FFDA6A"/>
                </a:solidFill>
                <a:latin typeface="Segoe UI Semibold"/>
              </a:rPr>
              <a:t>LIFECYCLE</a:t>
            </a:r>
          </a:p>
          <a:p>
            <a:r>
              <a:rPr sz="1100">
                <a:solidFill>
                  <a:srgbClr val="E7DEB5"/>
                </a:solidFill>
                <a:latin typeface="Segoe UI"/>
              </a:rPr>
              <a:t>Handle delete first; exact-ID provider fallback; 300/600 policy and reaper remain backstops.</a:t>
            </a:r>
          </a:p>
        </p:txBody>
      </p:sp>
      <p:sp>
        <p:nvSpPr>
          <p:cNvPr id="37" name="TextBox 37"/>
          <p:cNvSpPr txBox="1"/>
          <p:nvPr/>
        </p:nvSpPr>
        <p:spPr>
          <a:xfrm>
            <a:off x="540000" y="6270000"/>
            <a:ext cx="8000000" cy="220000"/>
          </a:xfrm>
          <a:prstGeom prst="rect">
            <a:avLst/>
          </a:prstGeom>
        </p:spPr>
        <p:txBody>
          <a:bodyPr wrap="square" rtlCol="0">
            <a:spAutoFit/>
          </a:bodyPr>
          <a:lstStyle/>
          <a:p>
            <a:r>
              <a:rPr sz="1000">
                <a:solidFill>
                  <a:srgbClr val="71839B"/>
                </a:solidFill>
                <a:latin typeface="Segoe UI"/>
              </a:rPr>
              <a:t>End-to-end runtime average: 13.22s. Exact-ID provider deletion recovered 17 of 21 handle stalls.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0" y="0"/>
            <a:ext cx="9144000" cy="6858000"/>
          </a:xfrm>
          <a:prstGeom prst="rect">
            <a:avLst/>
          </a:prstGeom>
          <a:solidFill>
            <a:srgbClr val="07101C"/>
          </a:solidFill>
        </p:spPr>
        <p:txBody>
          <a:bodyPr rtlCol="0" anchor="ctr"/>
          <a:lstStyle/>
          <a:p/>
        </p:txBody>
      </p:sp>
      <p:sp>
        <p:nvSpPr>
          <p:cNvPr id="3" name="Shape 3"/>
          <p:cNvSpPr/>
          <p:nvPr/>
        </p:nvSpPr>
        <p:spPr>
          <a:xfrm>
            <a:off x="0" y="0"/>
            <a:ext cx="9144000" cy="90000"/>
          </a:xfrm>
          <a:prstGeom prst="rect">
            <a:avLst/>
          </a:prstGeom>
          <a:solidFill>
            <a:srgbClr val="BFB1FF"/>
          </a:solidFill>
        </p:spPr>
        <p:txBody>
          <a:bodyPr rtlCol="0" anchor="ctr"/>
          <a:lstStyle/>
          <a:p/>
        </p:txBody>
      </p:sp>
      <p:sp>
        <p:nvSpPr>
          <p:cNvPr id="4" name="TextBox 4"/>
          <p:cNvSpPr txBox="1"/>
          <p:nvPr/>
        </p:nvSpPr>
        <p:spPr>
          <a:xfrm>
            <a:off x="520000" y="350000"/>
            <a:ext cx="7900000" cy="500000"/>
          </a:xfrm>
          <a:prstGeom prst="rect">
            <a:avLst/>
          </a:prstGeom>
        </p:spPr>
        <p:txBody>
          <a:bodyPr wrap="square" rtlCol="0">
            <a:spAutoFit/>
          </a:bodyPr>
          <a:lstStyle/>
          <a:p>
            <a:r>
              <a:rPr b="1" sz="2800">
                <a:solidFill>
                  <a:srgbClr val="F7FAFC"/>
                </a:solidFill>
                <a:latin typeface="Segoe UI Semibold"/>
              </a:rPr>
              <a:t>Watch one real request cross every boundary</a:t>
            </a:r>
          </a:p>
        </p:txBody>
      </p:sp>
      <p:sp>
        <p:nvSpPr>
          <p:cNvPr id="5" name="TextBox 5"/>
          <p:cNvSpPr txBox="1"/>
          <p:nvPr/>
        </p:nvSpPr>
        <p:spPr>
          <a:xfrm>
            <a:off x="540000" y="920000"/>
            <a:ext cx="7900000" cy="270000"/>
          </a:xfrm>
          <a:prstGeom prst="rect">
            <a:avLst/>
          </a:prstGeom>
        </p:spPr>
        <p:txBody>
          <a:bodyPr wrap="square" rtlCol="0">
            <a:spAutoFit/>
          </a:bodyPr>
          <a:lstStyle/>
          <a:p>
            <a:r>
              <a:rPr b="1" sz="1000" spc="80">
                <a:solidFill>
                  <a:srgbClr val="BFB1FF"/>
                </a:solidFill>
                <a:latin typeface="Segoe UI"/>
              </a:rPr>
              <a:t>LIVE-FIRST E2E EVIDENCE  |  ONE BOUNDED INVOCATION</a:t>
            </a:r>
          </a:p>
        </p:txBody>
      </p:sp>
      <p:sp>
        <p:nvSpPr>
          <p:cNvPr id="6" name="Shape 6"/>
          <p:cNvSpPr/>
          <p:nvPr/>
        </p:nvSpPr>
        <p:spPr>
          <a:xfrm>
            <a:off x="500000" y="1450000"/>
            <a:ext cx="3900000" cy="2080000"/>
          </a:xfrm>
          <a:prstGeom prst="roundRect">
            <a:avLst/>
          </a:prstGeom>
          <a:solidFill>
            <a:srgbClr val="132238"/>
          </a:solidFill>
        </p:spPr>
        <p:txBody>
          <a:bodyPr rtlCol="0" anchor="ctr"/>
          <a:lstStyle/>
          <a:p/>
        </p:txBody>
      </p:sp>
      <p:sp>
        <p:nvSpPr>
          <p:cNvPr id="7" name="TextBox 7"/>
          <p:cNvSpPr txBox="1"/>
          <p:nvPr/>
        </p:nvSpPr>
        <p:spPr>
          <a:xfrm>
            <a:off x="760000" y="1750000"/>
            <a:ext cx="3350000" cy="300000"/>
          </a:xfrm>
          <a:prstGeom prst="rect">
            <a:avLst/>
          </a:prstGeom>
        </p:spPr>
        <p:txBody>
          <a:bodyPr wrap="square" rtlCol="0">
            <a:spAutoFit/>
          </a:bodyPr>
          <a:lstStyle/>
          <a:p>
            <a:r>
              <a:rPr b="1" sz="1100">
                <a:solidFill>
                  <a:srgbClr val="66C7FF"/>
                </a:solidFill>
                <a:latin typeface="Segoe UI"/>
              </a:rPr>
              <a:t>1  AZURE FUNCTIONS | HOSTED SKILL</a:t>
            </a:r>
          </a:p>
        </p:txBody>
      </p:sp>
      <p:sp>
        <p:nvSpPr>
          <p:cNvPr id="8" name="TextBox 8"/>
          <p:cNvSpPr txBox="1"/>
          <p:nvPr/>
        </p:nvSpPr>
        <p:spPr>
          <a:xfrm>
            <a:off x="760000" y="2310000"/>
            <a:ext cx="3350000" cy="550000"/>
          </a:xfrm>
          <a:prstGeom prst="rect">
            <a:avLst/>
          </a:prstGeom>
        </p:spPr>
        <p:txBody>
          <a:bodyPr wrap="square" rtlCol="0">
            <a:spAutoFit/>
          </a:bodyPr>
          <a:lstStyle/>
          <a:p>
            <a:r>
              <a:rPr b="1" sz="1800">
                <a:solidFill>
                  <a:srgbClr val="F7FAFC"/>
                </a:solidFill>
                <a:latin typeface="Segoe UI Semibold"/>
              </a:rPr>
              <a:t>LIVE CAPTURE</a:t>
            </a:r>
          </a:p>
          <a:p>
            <a:r>
              <a:rPr sz="1200">
                <a:solidFill>
                  <a:srgbClr val="8FA2BA"/>
                </a:solidFill>
                <a:latin typeface="Segoe UI"/>
              </a:rPr>
              <a:t>Request succeeds and streams the tool result.</a:t>
            </a:r>
          </a:p>
        </p:txBody>
      </p:sp>
      <p:sp>
        <p:nvSpPr>
          <p:cNvPr id="9" name="Shape 9"/>
          <p:cNvSpPr/>
          <p:nvPr/>
        </p:nvSpPr>
        <p:spPr>
          <a:xfrm>
            <a:off x="4740000" y="1450000"/>
            <a:ext cx="3900000" cy="2080000"/>
          </a:xfrm>
          <a:prstGeom prst="roundRect">
            <a:avLst/>
          </a:prstGeom>
          <a:solidFill>
            <a:srgbClr val="102C43"/>
          </a:solidFill>
        </p:spPr>
        <p:txBody>
          <a:bodyPr rtlCol="0" anchor="ctr"/>
          <a:lstStyle/>
          <a:p/>
        </p:txBody>
      </p:sp>
      <p:sp>
        <p:nvSpPr>
          <p:cNvPr id="10" name="TextBox 10"/>
          <p:cNvSpPr txBox="1"/>
          <p:nvPr/>
        </p:nvSpPr>
        <p:spPr>
          <a:xfrm>
            <a:off x="5000000" y="1750000"/>
            <a:ext cx="3350000" cy="300000"/>
          </a:xfrm>
          <a:prstGeom prst="rect">
            <a:avLst/>
          </a:prstGeom>
        </p:spPr>
        <p:txBody>
          <a:bodyPr wrap="square" rtlCol="0">
            <a:spAutoFit/>
          </a:bodyPr>
          <a:lstStyle/>
          <a:p>
            <a:r>
              <a:rPr b="1" sz="1100">
                <a:solidFill>
                  <a:srgbClr val="50E6FF"/>
                </a:solidFill>
                <a:latin typeface="Segoe UI"/>
              </a:rPr>
              <a:t>2  APIM | FOUNDRY + MCP</a:t>
            </a:r>
          </a:p>
        </p:txBody>
      </p:sp>
      <p:sp>
        <p:nvSpPr>
          <p:cNvPr id="11" name="TextBox 11"/>
          <p:cNvSpPr txBox="1"/>
          <p:nvPr/>
        </p:nvSpPr>
        <p:spPr>
          <a:xfrm>
            <a:off x="5000000" y="2310000"/>
            <a:ext cx="3350000" cy="550000"/>
          </a:xfrm>
          <a:prstGeom prst="rect">
            <a:avLst/>
          </a:prstGeom>
        </p:spPr>
        <p:txBody>
          <a:bodyPr wrap="square" rtlCol="0">
            <a:spAutoFit/>
          </a:bodyPr>
          <a:lstStyle/>
          <a:p>
            <a:r>
              <a:rPr b="1" sz="1800">
                <a:solidFill>
                  <a:srgbClr val="F7FAFC"/>
                </a:solidFill>
                <a:latin typeface="Segoe UI Semibold"/>
              </a:rPr>
              <a:t>LIVE CAPTURE</a:t>
            </a:r>
          </a:p>
          <a:p>
            <a:r>
              <a:rPr sz="1200">
                <a:solidFill>
                  <a:srgbClr val="8FA2BA"/>
                </a:solidFill>
                <a:latin typeface="Segoe UI"/>
              </a:rPr>
              <a:t>Model and MCP requests share W3C correlation.</a:t>
            </a:r>
          </a:p>
        </p:txBody>
      </p:sp>
      <p:sp>
        <p:nvSpPr>
          <p:cNvPr id="12" name="Shape 12"/>
          <p:cNvSpPr/>
          <p:nvPr/>
        </p:nvSpPr>
        <p:spPr>
          <a:xfrm>
            <a:off x="500000" y="3900000"/>
            <a:ext cx="3900000" cy="2080000"/>
          </a:xfrm>
          <a:prstGeom prst="roundRect">
            <a:avLst/>
          </a:prstGeom>
          <a:solidFill>
            <a:srgbClr val="12342E"/>
          </a:solidFill>
        </p:spPr>
        <p:txBody>
          <a:bodyPr rtlCol="0" anchor="ctr"/>
          <a:lstStyle/>
          <a:p/>
        </p:txBody>
      </p:sp>
      <p:sp>
        <p:nvSpPr>
          <p:cNvPr id="13" name="TextBox 13"/>
          <p:cNvSpPr txBox="1"/>
          <p:nvPr/>
        </p:nvSpPr>
        <p:spPr>
          <a:xfrm>
            <a:off x="760000" y="4200000"/>
            <a:ext cx="3350000" cy="300000"/>
          </a:xfrm>
          <a:prstGeom prst="rect">
            <a:avLst/>
          </a:prstGeom>
        </p:spPr>
        <p:txBody>
          <a:bodyPr wrap="square" rtlCol="0">
            <a:spAutoFit/>
          </a:bodyPr>
          <a:lstStyle/>
          <a:p>
            <a:r>
              <a:rPr b="1" sz="1100">
                <a:solidFill>
                  <a:srgbClr val="80E1BB"/>
                </a:solidFill>
                <a:latin typeface="Segoe UI"/>
              </a:rPr>
              <a:t>3  ACA SANDBOX | TOOL EXECUTION</a:t>
            </a:r>
          </a:p>
        </p:txBody>
      </p:sp>
      <p:sp>
        <p:nvSpPr>
          <p:cNvPr id="14" name="TextBox 14"/>
          <p:cNvSpPr txBox="1"/>
          <p:nvPr/>
        </p:nvSpPr>
        <p:spPr>
          <a:xfrm>
            <a:off x="760000" y="4760000"/>
            <a:ext cx="3350000" cy="550000"/>
          </a:xfrm>
          <a:prstGeom prst="rect">
            <a:avLst/>
          </a:prstGeom>
        </p:spPr>
        <p:txBody>
          <a:bodyPr wrap="square" rtlCol="0">
            <a:spAutoFit/>
          </a:bodyPr>
          <a:lstStyle/>
          <a:p>
            <a:r>
              <a:rPr b="1" sz="1800">
                <a:solidFill>
                  <a:srgbClr val="F7FAFC"/>
                </a:solidFill>
                <a:latin typeface="Segoe UI Semibold"/>
              </a:rPr>
              <a:t>LIVE CAPTURE</a:t>
            </a:r>
          </a:p>
          <a:p>
            <a:r>
              <a:rPr sz="1200">
                <a:solidFill>
                  <a:srgbClr val="9FBFB2"/>
                </a:solidFill>
                <a:latin typeface="Segoe UI"/>
              </a:rPr>
              <a:t>Fresh sandbox appears, runs tools, then returns to zero.</a:t>
            </a:r>
          </a:p>
        </p:txBody>
      </p:sp>
      <p:sp>
        <p:nvSpPr>
          <p:cNvPr id="15" name="Shape 15"/>
          <p:cNvSpPr/>
          <p:nvPr/>
        </p:nvSpPr>
        <p:spPr>
          <a:xfrm>
            <a:off x="4740000" y="3900000"/>
            <a:ext cx="3900000" cy="2080000"/>
          </a:xfrm>
          <a:prstGeom prst="roundRect">
            <a:avLst/>
          </a:prstGeom>
          <a:solidFill>
            <a:srgbClr val="24233F"/>
          </a:solidFill>
        </p:spPr>
        <p:txBody>
          <a:bodyPr rtlCol="0" anchor="ctr"/>
          <a:lstStyle/>
          <a:p/>
        </p:txBody>
      </p:sp>
      <p:sp>
        <p:nvSpPr>
          <p:cNvPr id="16" name="TextBox 16"/>
          <p:cNvSpPr txBox="1"/>
          <p:nvPr/>
        </p:nvSpPr>
        <p:spPr>
          <a:xfrm>
            <a:off x="5000000" y="4200000"/>
            <a:ext cx="3350000" cy="300000"/>
          </a:xfrm>
          <a:prstGeom prst="rect">
            <a:avLst/>
          </a:prstGeom>
        </p:spPr>
        <p:txBody>
          <a:bodyPr wrap="square" rtlCol="0">
            <a:spAutoFit/>
          </a:bodyPr>
          <a:lstStyle/>
          <a:p>
            <a:r>
              <a:rPr b="1" sz="1100">
                <a:solidFill>
                  <a:srgbClr val="BFB1FF"/>
                </a:solidFill>
                <a:latin typeface="Segoe UI"/>
              </a:rPr>
              <a:t>4  APPLICATION INSIGHTS | WATERFALL</a:t>
            </a:r>
          </a:p>
        </p:txBody>
      </p:sp>
      <p:sp>
        <p:nvSpPr>
          <p:cNvPr id="17" name="TextBox 17"/>
          <p:cNvSpPr txBox="1"/>
          <p:nvPr/>
        </p:nvSpPr>
        <p:spPr>
          <a:xfrm>
            <a:off x="5000000" y="4760000"/>
            <a:ext cx="3350000" cy="550000"/>
          </a:xfrm>
          <a:prstGeom prst="rect">
            <a:avLst/>
          </a:prstGeom>
        </p:spPr>
        <p:txBody>
          <a:bodyPr wrap="square" rtlCol="0">
            <a:spAutoFit/>
          </a:bodyPr>
          <a:lstStyle/>
          <a:p>
            <a:r>
              <a:rPr b="1" sz="1800">
                <a:solidFill>
                  <a:srgbClr val="F7FAFC"/>
                </a:solidFill>
                <a:latin typeface="Segoe UI Semibold"/>
              </a:rPr>
              <a:t>LIVE CAPTURE</a:t>
            </a:r>
          </a:p>
          <a:p>
            <a:r>
              <a:rPr sz="1200">
                <a:solidFill>
                  <a:srgbClr val="AFAAD0"/>
                </a:solidFill>
                <a:latin typeface="Segoe UI"/>
              </a:rPr>
              <a:t>Create, upload, verify, execute, and cleanup phases.</a:t>
            </a:r>
          </a:p>
        </p:txBody>
      </p:sp>
      <p:sp>
        <p:nvSpPr>
          <p:cNvPr id="18" name="TextBox 18"/>
          <p:cNvSpPr txBox="1"/>
          <p:nvPr/>
        </p:nvSpPr>
        <p:spPr>
          <a:xfrm>
            <a:off x="540000" y="6280000"/>
            <a:ext cx="8000000" cy="220000"/>
          </a:xfrm>
          <a:prstGeom prst="rect">
            <a:avLst/>
          </a:prstGeom>
        </p:spPr>
        <p:txBody>
          <a:bodyPr wrap="square" rtlCol="0">
            <a:spAutoFit/>
          </a:bodyPr>
          <a:lstStyle/>
          <a:p>
            <a:r>
              <a:rPr sz="1000">
                <a:solidFill>
                  <a:srgbClr val="71839B"/>
                </a:solidFill>
                <a:latin typeface="Segoe UI"/>
              </a:rPr>
              <a:t>One live Hosted Skill request: MCP + two ACA tool calls + APIM + final inventory zero.</a:t>
            </a:r>
          </a:p>
        </p:txBody>
      </p:sp>
      <p:pic>
        <p:nvPicPr>
          <p:cNvPr id="19" name="Picture 19"/>
          <p:cNvPicPr>
            <a:picLocks noChangeAspect="1"/>
          </p:cNvPicPr>
          <p:nvPr/>
        </p:nvPicPr>
        <p:blipFill>
          <a:blip r:embed="rId3"/>
          <a:stretch>
            <a:fillRect/>
          </a:stretch>
        </p:blipFill>
        <p:spPr>
          <a:xfrm>
            <a:off x="650000" y="1500000"/>
            <a:ext cx="3600000" cy="2025000"/>
          </a:xfrm>
          <a:prstGeom prst="rect">
            <a:avLst/>
          </a:prstGeom>
        </p:spPr>
      </p:pic>
      <p:pic>
        <p:nvPicPr>
          <p:cNvPr id="20" name="Picture 20"/>
          <p:cNvPicPr>
            <a:picLocks noChangeAspect="1"/>
          </p:cNvPicPr>
          <p:nvPr/>
        </p:nvPicPr>
        <p:blipFill>
          <a:blip r:embed="rId4"/>
          <a:stretch>
            <a:fillRect/>
          </a:stretch>
        </p:blipFill>
        <p:spPr>
          <a:xfrm>
            <a:off x="4890000" y="1500000"/>
            <a:ext cx="3600000" cy="2025000"/>
          </a:xfrm>
          <a:prstGeom prst="rect">
            <a:avLst/>
          </a:prstGeom>
        </p:spPr>
      </p:pic>
      <p:pic>
        <p:nvPicPr>
          <p:cNvPr id="21" name="Picture 21"/>
          <p:cNvPicPr>
            <a:picLocks noChangeAspect="1"/>
          </p:cNvPicPr>
          <p:nvPr/>
        </p:nvPicPr>
        <p:blipFill>
          <a:blip r:embed="rId5"/>
          <a:stretch>
            <a:fillRect/>
          </a:stretch>
        </p:blipFill>
        <p:spPr>
          <a:xfrm>
            <a:off x="650000" y="3950000"/>
            <a:ext cx="3600000" cy="2025000"/>
          </a:xfrm>
          <a:prstGeom prst="rect">
            <a:avLst/>
          </a:prstGeom>
        </p:spPr>
      </p:pic>
      <p:pic>
        <p:nvPicPr>
          <p:cNvPr id="22" name="Picture 22"/>
          <p:cNvPicPr>
            <a:picLocks noChangeAspect="1"/>
          </p:cNvPicPr>
          <p:nvPr/>
        </p:nvPicPr>
        <p:blipFill>
          <a:blip r:embed="rId6"/>
          <a:stretch>
            <a:fillRect/>
          </a:stretch>
        </p:blipFill>
        <p:spPr>
          <a:xfrm>
            <a:off x="4890000" y="3950000"/>
            <a:ext cx="3600000" cy="2025000"/>
          </a:xfrm>
          <a:prstGeom prst="rect">
            <a:avLst/>
          </a:prstGeom>
        </p:spPr>
      </p:pic>
      <p:pic>
        <p:nvPicPr>
          <p:cNvPr id="23" name="Picture 23"/>
          <p:cNvPicPr>
            <a:picLocks noChangeAspect="1"/>
          </p:cNvPicPr>
          <p:nvPr/>
        </p:nvPicPr>
        <p:blipFill>
          <a:blip r:embed="rId7"/>
          <a:stretch>
            <a:fillRect/>
          </a:stretch>
        </p:blipFill>
        <p:spPr>
          <a:xfrm>
            <a:off x="650000" y="1500000"/>
            <a:ext cx="3600000" cy="2025000"/>
          </a:xfrm>
          <a:prstGeom prst="rect">
            <a:avLst/>
          </a:prstGeom>
        </p:spPr>
      </p:pic>
      <p:pic>
        <p:nvPicPr>
          <p:cNvPr id="24" name="Picture 24"/>
          <p:cNvPicPr>
            <a:picLocks noChangeAspect="1"/>
          </p:cNvPicPr>
          <p:nvPr/>
        </p:nvPicPr>
        <p:blipFill>
          <a:blip r:embed="rId8"/>
          <a:stretch>
            <a:fillRect/>
          </a:stretch>
        </p:blipFill>
        <p:spPr>
          <a:xfrm>
            <a:off x="4890000" y="1500000"/>
            <a:ext cx="3600000" cy="2025000"/>
          </a:xfrm>
          <a:prstGeom prst="rect">
            <a:avLst/>
          </a:prstGeom>
        </p:spPr>
      </p:pic>
      <p:pic>
        <p:nvPicPr>
          <p:cNvPr id="25" name="Picture 25"/>
          <p:cNvPicPr>
            <a:picLocks noChangeAspect="1"/>
          </p:cNvPicPr>
          <p:nvPr/>
        </p:nvPicPr>
        <p:blipFill>
          <a:blip r:embed="rId9"/>
          <a:stretch>
            <a:fillRect/>
          </a:stretch>
        </p:blipFill>
        <p:spPr>
          <a:xfrm>
            <a:off x="650000" y="3950000"/>
            <a:ext cx="3600000" cy="2025000"/>
          </a:xfrm>
          <a:prstGeom prst="rect">
            <a:avLst/>
          </a:prstGeom>
        </p:spPr>
      </p:pic>
      <p:pic>
        <p:nvPicPr>
          <p:cNvPr id="26" name="Picture 26"/>
          <p:cNvPicPr>
            <a:picLocks noChangeAspect="1"/>
          </p:cNvPicPr>
          <p:nvPr/>
        </p:nvPicPr>
        <p:blipFill>
          <a:blip r:embed="rId10"/>
          <a:stretch>
            <a:fillRect/>
          </a:stretch>
        </p:blipFill>
        <p:spPr>
          <a:xfrm>
            <a:off x="4890000" y="3950000"/>
            <a:ext cx="3600000" cy="2025000"/>
          </a:xfrm>
          <a:prstGeom prst="rect">
            <a:avLst/>
          </a:prstGeom>
        </p:spPr>
      </p:pic>
      <p:pic>
        <p:nvPicPr>
          <p:cNvPr id="27" name="Picture 27"/>
          <p:cNvPicPr>
            <a:picLocks noChangeAspect="1"/>
          </p:cNvPicPr>
          <p:nvPr/>
        </p:nvPicPr>
        <p:blipFill>
          <a:blip r:embed="rId11"/>
          <a:stretch>
            <a:fillRect/>
          </a:stretch>
        </p:blipFill>
        <p:spPr>
          <a:xfrm>
            <a:off x="650000" y="1500000"/>
            <a:ext cx="3600000" cy="2025000"/>
          </a:xfrm>
          <a:prstGeom prst="rect">
            <a:avLst/>
          </a:prstGeom>
        </p:spPr>
      </p:pic>
      <p:pic>
        <p:nvPicPr>
          <p:cNvPr id="28" name="Picture 28"/>
          <p:cNvPicPr>
            <a:picLocks noChangeAspect="1"/>
          </p:cNvPicPr>
          <p:nvPr/>
        </p:nvPicPr>
        <p:blipFill>
          <a:blip r:embed="rId12"/>
          <a:stretch>
            <a:fillRect/>
          </a:stretch>
        </p:blipFill>
        <p:spPr>
          <a:xfrm>
            <a:off x="4890000" y="1500000"/>
            <a:ext cx="3600000" cy="2025000"/>
          </a:xfrm>
          <a:prstGeom prst="rect">
            <a:avLst/>
          </a:prstGeom>
        </p:spPr>
      </p:pic>
      <p:pic>
        <p:nvPicPr>
          <p:cNvPr id="29" name="Picture 29"/>
          <p:cNvPicPr>
            <a:picLocks noChangeAspect="1"/>
          </p:cNvPicPr>
          <p:nvPr/>
        </p:nvPicPr>
        <p:blipFill>
          <a:blip r:embed="rId13"/>
          <a:stretch>
            <a:fillRect/>
          </a:stretch>
        </p:blipFill>
        <p:spPr>
          <a:xfrm>
            <a:off x="650000" y="3950000"/>
            <a:ext cx="3600000" cy="2025000"/>
          </a:xfrm>
          <a:prstGeom prst="rect">
            <a:avLst/>
          </a:prstGeom>
        </p:spPr>
      </p:pic>
      <p:pic>
        <p:nvPicPr>
          <p:cNvPr id="30" name="Picture 30"/>
          <p:cNvPicPr>
            <a:picLocks noChangeAspect="1"/>
          </p:cNvPicPr>
          <p:nvPr/>
        </p:nvPicPr>
        <p:blipFill>
          <a:blip r:embed="rId14"/>
          <a:stretch>
            <a:fillRect/>
          </a:stretch>
        </p:blipFill>
        <p:spPr>
          <a:xfrm>
            <a:off x="4890000" y="3950000"/>
            <a:ext cx="3600000" cy="2025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0" y="0"/>
            <a:ext cx="9144000" cy="6858000"/>
          </a:xfrm>
          <a:prstGeom prst="rect">
            <a:avLst/>
          </a:prstGeom>
          <a:solidFill>
            <a:srgbClr val="0B1220"/>
          </a:solidFill>
        </p:spPr>
        <p:txBody>
          <a:bodyPr rtlCol="0" anchor="ctr"/>
          <a:lstStyle/>
          <a:p/>
        </p:txBody>
      </p:sp>
      <p:sp>
        <p:nvSpPr>
          <p:cNvPr id="3" name="Shape 3"/>
          <p:cNvSpPr/>
          <p:nvPr/>
        </p:nvSpPr>
        <p:spPr>
          <a:xfrm>
            <a:off x="0" y="0"/>
            <a:ext cx="9144000" cy="90000"/>
          </a:xfrm>
          <a:prstGeom prst="rect">
            <a:avLst/>
          </a:prstGeom>
          <a:solidFill>
            <a:srgbClr val="50E6FF"/>
          </a:solidFill>
        </p:spPr>
        <p:txBody>
          <a:bodyPr rtlCol="0" anchor="ctr"/>
          <a:lstStyle/>
          <a:p/>
        </p:txBody>
      </p:sp>
      <p:sp>
        <p:nvSpPr>
          <p:cNvPr id="4" name="TextBox 4"/>
          <p:cNvSpPr txBox="1"/>
          <p:nvPr/>
        </p:nvSpPr>
        <p:spPr>
          <a:xfrm>
            <a:off x="520000" y="350000"/>
            <a:ext cx="7900000" cy="500000"/>
          </a:xfrm>
          <a:prstGeom prst="rect">
            <a:avLst/>
          </a:prstGeom>
        </p:spPr>
        <p:txBody>
          <a:bodyPr wrap="square" rtlCol="0">
            <a:spAutoFit/>
          </a:bodyPr>
          <a:lstStyle/>
          <a:p>
            <a:r>
              <a:rPr b="1" sz="2800">
                <a:solidFill>
                  <a:srgbClr val="F7FAFC"/>
                </a:solidFill>
                <a:latin typeface="Segoe UI Semibold"/>
              </a:rPr>
              <a:t>Fallback-qualified runtime remains 35.5% below baseline</a:t>
            </a:r>
          </a:p>
        </p:txBody>
      </p:sp>
      <p:sp>
        <p:nvSpPr>
          <p:cNvPr id="5" name="TextBox 5"/>
          <p:cNvSpPr txBox="1"/>
          <p:nvPr/>
        </p:nvSpPr>
        <p:spPr>
          <a:xfrm>
            <a:off x="540000" y="920000"/>
            <a:ext cx="7900000" cy="270000"/>
          </a:xfrm>
          <a:prstGeom prst="rect">
            <a:avLst/>
          </a:prstGeom>
        </p:spPr>
        <p:txBody>
          <a:bodyPr wrap="square" rtlCol="0">
            <a:spAutoFit/>
          </a:bodyPr>
          <a:lstStyle/>
          <a:p>
            <a:r>
              <a:rPr b="1" sz="1000" spc="80">
                <a:solidFill>
                  <a:srgbClr val="50E6FF"/>
                </a:solidFill>
                <a:latin typeface="Segoe UI"/>
              </a:rPr>
              <a:t>CANONICAL BASELINE VS. EXACT-SOURCE FD6589E QUALIFICATION</a:t>
            </a:r>
          </a:p>
        </p:txBody>
      </p:sp>
      <p:sp>
        <p:nvSpPr>
          <p:cNvPr id="6" name="Shape 6"/>
          <p:cNvSpPr/>
          <p:nvPr/>
        </p:nvSpPr>
        <p:spPr>
          <a:xfrm>
            <a:off x="520000" y="1480000"/>
            <a:ext cx="3180000" cy="3000000"/>
          </a:xfrm>
          <a:prstGeom prst="roundRect">
            <a:avLst/>
          </a:prstGeom>
          <a:solidFill>
            <a:srgbClr val="103452"/>
          </a:solidFill>
        </p:spPr>
        <p:txBody>
          <a:bodyPr rtlCol="0" anchor="ctr"/>
          <a:lstStyle/>
          <a:p/>
        </p:txBody>
      </p:sp>
      <p:sp>
        <p:nvSpPr>
          <p:cNvPr id="7" name="TextBox 7"/>
          <p:cNvSpPr txBox="1"/>
          <p:nvPr/>
        </p:nvSpPr>
        <p:spPr>
          <a:xfrm>
            <a:off x="850000" y="1840000"/>
            <a:ext cx="2500000" cy="900000"/>
          </a:xfrm>
          <a:prstGeom prst="rect">
            <a:avLst/>
          </a:prstGeom>
        </p:spPr>
        <p:txBody>
          <a:bodyPr wrap="square" rtlCol="0">
            <a:spAutoFit/>
          </a:bodyPr>
          <a:lstStyle/>
          <a:p>
            <a:r>
              <a:rPr b="1" sz="4800">
                <a:solidFill>
                  <a:srgbClr val="50E6FF"/>
                </a:solidFill>
                <a:latin typeface="Segoe UI Semibold"/>
              </a:rPr>
              <a:t>35.5%</a:t>
            </a:r>
          </a:p>
        </p:txBody>
      </p:sp>
      <p:sp>
        <p:nvSpPr>
          <p:cNvPr id="8" name="TextBox 8"/>
          <p:cNvSpPr txBox="1"/>
          <p:nvPr/>
        </p:nvSpPr>
        <p:spPr>
          <a:xfrm>
            <a:off x="880000" y="2790000"/>
            <a:ext cx="2450000" cy="550000"/>
          </a:xfrm>
          <a:prstGeom prst="rect">
            <a:avLst/>
          </a:prstGeom>
        </p:spPr>
        <p:txBody>
          <a:bodyPr wrap="square" rtlCol="0">
            <a:spAutoFit/>
          </a:bodyPr>
          <a:lstStyle/>
          <a:p>
            <a:r>
              <a:rPr b="1" sz="2000">
                <a:solidFill>
                  <a:srgbClr val="F7FAFC"/>
                </a:solidFill>
                <a:latin typeface="Segoe UI Semibold"/>
              </a:rPr>
              <a:t>lower average runtime</a:t>
            </a:r>
          </a:p>
        </p:txBody>
      </p:sp>
      <p:sp>
        <p:nvSpPr>
          <p:cNvPr id="9" name="TextBox 9"/>
          <p:cNvSpPr txBox="1"/>
          <p:nvPr/>
        </p:nvSpPr>
        <p:spPr>
          <a:xfrm>
            <a:off x="880000" y="3470000"/>
            <a:ext cx="2450000" cy="550000"/>
          </a:xfrm>
          <a:prstGeom prst="rect">
            <a:avLst/>
          </a:prstGeom>
        </p:spPr>
        <p:txBody>
          <a:bodyPr wrap="square" rtlCol="0">
            <a:spAutoFit/>
          </a:bodyPr>
          <a:lstStyle/>
          <a:p>
            <a:r>
              <a:rPr b="1" sz="1700">
                <a:solidFill>
                  <a:srgbClr val="CDEEFF"/>
                </a:solidFill>
                <a:latin typeface="Segoe UI"/>
              </a:rPr>
              <a:t>20.49s  -&gt;  13.22s</a:t>
            </a:r>
          </a:p>
          <a:p>
            <a:r>
              <a:rPr sz="1300">
                <a:solidFill>
                  <a:srgbClr val="9FC6DF"/>
                </a:solidFill>
                <a:latin typeface="Segoe UI"/>
              </a:rPr>
              <a:t>Saved 7.27s per request</a:t>
            </a:r>
          </a:p>
        </p:txBody>
      </p:sp>
      <p:sp>
        <p:nvSpPr>
          <p:cNvPr id="10" name="TextBox 10"/>
          <p:cNvSpPr txBox="1"/>
          <p:nvPr/>
        </p:nvSpPr>
        <p:spPr>
          <a:xfrm>
            <a:off x="4080000" y="1510000"/>
            <a:ext cx="4100000" cy="300000"/>
          </a:xfrm>
          <a:prstGeom prst="rect">
            <a:avLst/>
          </a:prstGeom>
        </p:spPr>
        <p:txBody>
          <a:bodyPr wrap="square" rtlCol="0">
            <a:spAutoFit/>
          </a:bodyPr>
          <a:lstStyle/>
          <a:p>
            <a:r>
              <a:rPr b="1" sz="1100" spc="70">
                <a:solidFill>
                  <a:srgbClr val="A7B5CB"/>
                </a:solidFill>
                <a:latin typeface="Segoe UI"/>
              </a:rPr>
              <a:t>TOTAL REQUEST LATENCY</a:t>
            </a:r>
          </a:p>
        </p:txBody>
      </p:sp>
      <p:sp>
        <p:nvSpPr>
          <p:cNvPr id="11" name="TextBox 11"/>
          <p:cNvSpPr txBox="1"/>
          <p:nvPr/>
        </p:nvSpPr>
        <p:spPr>
          <a:xfrm>
            <a:off x="4090000" y="1920000"/>
            <a:ext cx="1250000" cy="300000"/>
          </a:xfrm>
          <a:prstGeom prst="rect">
            <a:avLst/>
          </a:prstGeom>
        </p:spPr>
        <p:txBody>
          <a:bodyPr wrap="square" rtlCol="0">
            <a:spAutoFit/>
          </a:bodyPr>
          <a:lstStyle/>
          <a:p>
            <a:r>
              <a:rPr b="1" sz="1300">
                <a:solidFill>
                  <a:srgbClr val="F7FAFC"/>
                </a:solidFill>
                <a:latin typeface="Segoe UI Semibold"/>
              </a:rPr>
              <a:t>Cold start</a:t>
            </a:r>
          </a:p>
        </p:txBody>
      </p:sp>
      <p:sp>
        <p:nvSpPr>
          <p:cNvPr id="12" name="Shape 12"/>
          <p:cNvSpPr/>
          <p:nvPr/>
        </p:nvSpPr>
        <p:spPr>
          <a:xfrm>
            <a:off x="5410000" y="1920000"/>
            <a:ext cx="2250000" cy="240000"/>
          </a:xfrm>
          <a:prstGeom prst="roundRect">
            <a:avLst/>
          </a:prstGeom>
          <a:solidFill>
            <a:srgbClr val="4A5568"/>
          </a:solidFill>
        </p:spPr>
        <p:txBody>
          <a:bodyPr rtlCol="0" anchor="ctr"/>
          <a:lstStyle/>
          <a:p/>
        </p:txBody>
      </p:sp>
      <p:sp>
        <p:nvSpPr>
          <p:cNvPr id="13" name="Shape 13"/>
          <p:cNvSpPr/>
          <p:nvPr/>
        </p:nvSpPr>
        <p:spPr>
          <a:xfrm>
            <a:off x="5410000" y="2240000"/>
            <a:ext cx="1788351" cy="240000"/>
          </a:xfrm>
          <a:prstGeom prst="roundRect">
            <a:avLst/>
          </a:prstGeom>
          <a:solidFill>
            <a:srgbClr val="50E6FF"/>
          </a:solidFill>
        </p:spPr>
        <p:txBody>
          <a:bodyPr rtlCol="0" anchor="ctr"/>
          <a:lstStyle/>
          <a:p/>
        </p:txBody>
      </p:sp>
      <p:sp>
        <p:nvSpPr>
          <p:cNvPr id="14" name="TextBox 14"/>
          <p:cNvSpPr txBox="1"/>
          <p:nvPr/>
        </p:nvSpPr>
        <p:spPr>
          <a:xfrm>
            <a:off x="7780000" y="1840000"/>
            <a:ext cx="800000" cy="650000"/>
          </a:xfrm>
          <a:prstGeom prst="rect">
            <a:avLst/>
          </a:prstGeom>
        </p:spPr>
        <p:txBody>
          <a:bodyPr wrap="square" rtlCol="0">
            <a:spAutoFit/>
          </a:bodyPr>
          <a:lstStyle/>
          <a:p>
            <a:r>
              <a:rPr sz="1100">
                <a:solidFill>
                  <a:srgbClr val="A7B5CB"/>
                </a:solidFill>
                <a:latin typeface="Segoe UI"/>
              </a:rPr>
              <a:t>27.7s</a:t>
            </a:r>
          </a:p>
          <a:p>
            <a:r>
              <a:rPr b="1" sz="1100">
                <a:solidFill>
                  <a:srgbClr val="50E6FF"/>
                </a:solidFill>
                <a:latin typeface="Segoe UI Semibold"/>
              </a:rPr>
              <a:t>22.0s</a:t>
            </a:r>
          </a:p>
        </p:txBody>
      </p:sp>
      <p:sp>
        <p:nvSpPr>
          <p:cNvPr id="15" name="TextBox 15"/>
          <p:cNvSpPr txBox="1"/>
          <p:nvPr/>
        </p:nvSpPr>
        <p:spPr>
          <a:xfrm>
            <a:off x="4090000" y="2760000"/>
            <a:ext cx="1250000" cy="300000"/>
          </a:xfrm>
          <a:prstGeom prst="rect">
            <a:avLst/>
          </a:prstGeom>
        </p:spPr>
        <p:txBody>
          <a:bodyPr wrap="square" rtlCol="0">
            <a:spAutoFit/>
          </a:bodyPr>
          <a:lstStyle/>
          <a:p>
            <a:r>
              <a:rPr b="1" sz="1300">
                <a:solidFill>
                  <a:srgbClr val="F7FAFC"/>
                </a:solidFill>
                <a:latin typeface="Segoe UI Semibold"/>
              </a:rPr>
              <a:t>c1 p50</a:t>
            </a:r>
          </a:p>
        </p:txBody>
      </p:sp>
      <p:sp>
        <p:nvSpPr>
          <p:cNvPr id="16" name="Shape 16"/>
          <p:cNvSpPr/>
          <p:nvPr/>
        </p:nvSpPr>
        <p:spPr>
          <a:xfrm>
            <a:off x="5410000" y="2760000"/>
            <a:ext cx="2250000" cy="240000"/>
          </a:xfrm>
          <a:prstGeom prst="roundRect">
            <a:avLst/>
          </a:prstGeom>
          <a:solidFill>
            <a:srgbClr val="4A5568"/>
          </a:solidFill>
        </p:spPr>
        <p:txBody>
          <a:bodyPr rtlCol="0" anchor="ctr"/>
          <a:lstStyle/>
          <a:p/>
        </p:txBody>
      </p:sp>
      <p:sp>
        <p:nvSpPr>
          <p:cNvPr id="17" name="Shape 17"/>
          <p:cNvSpPr/>
          <p:nvPr/>
        </p:nvSpPr>
        <p:spPr>
          <a:xfrm>
            <a:off x="5410000" y="3080000"/>
            <a:ext cx="1467505" cy="240000"/>
          </a:xfrm>
          <a:prstGeom prst="roundRect">
            <a:avLst/>
          </a:prstGeom>
          <a:solidFill>
            <a:srgbClr val="6CCB5F"/>
          </a:solidFill>
        </p:spPr>
        <p:txBody>
          <a:bodyPr rtlCol="0" anchor="ctr"/>
          <a:lstStyle/>
          <a:p/>
        </p:txBody>
      </p:sp>
      <p:sp>
        <p:nvSpPr>
          <p:cNvPr id="18" name="TextBox 18"/>
          <p:cNvSpPr txBox="1"/>
          <p:nvPr/>
        </p:nvSpPr>
        <p:spPr>
          <a:xfrm>
            <a:off x="7780000" y="2680000"/>
            <a:ext cx="800000" cy="650000"/>
          </a:xfrm>
          <a:prstGeom prst="rect">
            <a:avLst/>
          </a:prstGeom>
        </p:spPr>
        <p:txBody>
          <a:bodyPr wrap="square" rtlCol="0">
            <a:spAutoFit/>
          </a:bodyPr>
          <a:lstStyle/>
          <a:p>
            <a:r>
              <a:rPr sz="1100">
                <a:solidFill>
                  <a:srgbClr val="A7B5CB"/>
                </a:solidFill>
                <a:latin typeface="Segoe UI"/>
              </a:rPr>
              <a:t>19.7s</a:t>
            </a:r>
          </a:p>
          <a:p>
            <a:r>
              <a:rPr b="1" sz="1100">
                <a:solidFill>
                  <a:srgbClr val="6CCB5F"/>
                </a:solidFill>
                <a:latin typeface="Segoe UI Semibold"/>
              </a:rPr>
              <a:t>12.9s</a:t>
            </a:r>
          </a:p>
        </p:txBody>
      </p:sp>
      <p:sp>
        <p:nvSpPr>
          <p:cNvPr id="19" name="TextBox 19"/>
          <p:cNvSpPr txBox="1"/>
          <p:nvPr/>
        </p:nvSpPr>
        <p:spPr>
          <a:xfrm>
            <a:off x="4090000" y="3600000"/>
            <a:ext cx="1250000" cy="300000"/>
          </a:xfrm>
          <a:prstGeom prst="rect">
            <a:avLst/>
          </a:prstGeom>
        </p:spPr>
        <p:txBody>
          <a:bodyPr wrap="square" rtlCol="0">
            <a:spAutoFit/>
          </a:bodyPr>
          <a:lstStyle/>
          <a:p>
            <a:r>
              <a:rPr b="1" sz="1300">
                <a:solidFill>
                  <a:srgbClr val="F7FAFC"/>
                </a:solidFill>
                <a:latin typeface="Segoe UI Semibold"/>
              </a:rPr>
              <a:t>c10 p50</a:t>
            </a:r>
          </a:p>
        </p:txBody>
      </p:sp>
      <p:sp>
        <p:nvSpPr>
          <p:cNvPr id="20" name="Shape 20"/>
          <p:cNvSpPr/>
          <p:nvPr/>
        </p:nvSpPr>
        <p:spPr>
          <a:xfrm>
            <a:off x="5410000" y="3600000"/>
            <a:ext cx="2250000" cy="240000"/>
          </a:xfrm>
          <a:prstGeom prst="roundRect">
            <a:avLst/>
          </a:prstGeom>
          <a:solidFill>
            <a:srgbClr val="4A5568"/>
          </a:solidFill>
        </p:spPr>
        <p:txBody>
          <a:bodyPr rtlCol="0" anchor="ctr"/>
          <a:lstStyle/>
          <a:p/>
        </p:txBody>
      </p:sp>
      <p:sp>
        <p:nvSpPr>
          <p:cNvPr id="21" name="Shape 21"/>
          <p:cNvSpPr/>
          <p:nvPr/>
        </p:nvSpPr>
        <p:spPr>
          <a:xfrm>
            <a:off x="5410000" y="3920000"/>
            <a:ext cx="1836169" cy="240000"/>
          </a:xfrm>
          <a:prstGeom prst="roundRect">
            <a:avLst/>
          </a:prstGeom>
          <a:solidFill>
            <a:srgbClr val="BFB1FF"/>
          </a:solidFill>
        </p:spPr>
        <p:txBody>
          <a:bodyPr rtlCol="0" anchor="ctr"/>
          <a:lstStyle/>
          <a:p/>
        </p:txBody>
      </p:sp>
      <p:sp>
        <p:nvSpPr>
          <p:cNvPr id="22" name="TextBox 22"/>
          <p:cNvSpPr txBox="1"/>
          <p:nvPr/>
        </p:nvSpPr>
        <p:spPr>
          <a:xfrm>
            <a:off x="7780000" y="3520000"/>
            <a:ext cx="800000" cy="650000"/>
          </a:xfrm>
          <a:prstGeom prst="rect">
            <a:avLst/>
          </a:prstGeom>
        </p:spPr>
        <p:txBody>
          <a:bodyPr wrap="square" rtlCol="0">
            <a:spAutoFit/>
          </a:bodyPr>
          <a:lstStyle/>
          <a:p>
            <a:r>
              <a:rPr sz="1100">
                <a:solidFill>
                  <a:srgbClr val="A7B5CB"/>
                </a:solidFill>
                <a:latin typeface="Segoe UI"/>
              </a:rPr>
              <a:t>27.6s</a:t>
            </a:r>
          </a:p>
          <a:p>
            <a:r>
              <a:rPr b="1" sz="1100">
                <a:solidFill>
                  <a:srgbClr val="BFB1FF"/>
                </a:solidFill>
                <a:latin typeface="Segoe UI Semibold"/>
              </a:rPr>
              <a:t>22.5s</a:t>
            </a:r>
          </a:p>
        </p:txBody>
      </p:sp>
      <p:sp>
        <p:nvSpPr>
          <p:cNvPr id="23" name="Shape 23"/>
          <p:cNvSpPr/>
          <p:nvPr/>
        </p:nvSpPr>
        <p:spPr>
          <a:xfrm>
            <a:off x="520000" y="4730000"/>
            <a:ext cx="1900000" cy="830000"/>
          </a:xfrm>
          <a:prstGeom prst="roundRect">
            <a:avLst/>
          </a:prstGeom>
          <a:solidFill>
            <a:srgbClr val="172A46"/>
          </a:solidFill>
        </p:spPr>
        <p:txBody>
          <a:bodyPr rtlCol="0" anchor="ctr"/>
          <a:lstStyle/>
          <a:p/>
        </p:txBody>
      </p:sp>
      <p:sp>
        <p:nvSpPr>
          <p:cNvPr id="24" name="TextBox 24"/>
          <p:cNvSpPr txBox="1"/>
          <p:nvPr/>
        </p:nvSpPr>
        <p:spPr>
          <a:xfrm>
            <a:off x="730000" y="4930000"/>
            <a:ext cx="1500000" cy="400000"/>
          </a:xfrm>
          <a:prstGeom prst="rect">
            <a:avLst/>
          </a:prstGeom>
        </p:spPr>
        <p:txBody>
          <a:bodyPr wrap="square" rtlCol="0">
            <a:spAutoFit/>
          </a:bodyPr>
          <a:lstStyle/>
          <a:p>
            <a:r>
              <a:rPr b="1" sz="1700">
                <a:solidFill>
                  <a:srgbClr val="F7FAFC"/>
                </a:solidFill>
                <a:latin typeface="Segoe UI Semibold"/>
              </a:rPr>
              <a:t>21 / 21</a:t>
            </a:r>
          </a:p>
          <a:p>
            <a:r>
              <a:rPr sz="1100">
                <a:solidFill>
                  <a:srgbClr val="A7B5CB"/>
                </a:solidFill>
                <a:latin typeface="Segoe UI"/>
              </a:rPr>
              <a:t>requests succeeded</a:t>
            </a:r>
          </a:p>
        </p:txBody>
      </p:sp>
      <p:sp>
        <p:nvSpPr>
          <p:cNvPr id="25" name="Shape 25"/>
          <p:cNvSpPr/>
          <p:nvPr/>
        </p:nvSpPr>
        <p:spPr>
          <a:xfrm>
            <a:off x="2560000" y="4730000"/>
            <a:ext cx="1900000" cy="830000"/>
          </a:xfrm>
          <a:prstGeom prst="roundRect">
            <a:avLst/>
          </a:prstGeom>
          <a:solidFill>
            <a:srgbClr val="12342E"/>
          </a:solidFill>
        </p:spPr>
        <p:txBody>
          <a:bodyPr rtlCol="0" anchor="ctr"/>
          <a:lstStyle/>
          <a:p/>
        </p:txBody>
      </p:sp>
      <p:sp>
        <p:nvSpPr>
          <p:cNvPr id="26" name="TextBox 26"/>
          <p:cNvSpPr txBox="1"/>
          <p:nvPr/>
        </p:nvSpPr>
        <p:spPr>
          <a:xfrm>
            <a:off x="2770000" y="4930000"/>
            <a:ext cx="1500000" cy="400000"/>
          </a:xfrm>
          <a:prstGeom prst="rect">
            <a:avLst/>
          </a:prstGeom>
        </p:spPr>
        <p:txBody>
          <a:bodyPr wrap="square" rtlCol="0">
            <a:spAutoFit/>
          </a:bodyPr>
          <a:lstStyle/>
          <a:p>
            <a:r>
              <a:rPr b="1" sz="1700">
                <a:solidFill>
                  <a:srgbClr val="80E1BB"/>
                </a:solidFill>
                <a:latin typeface="Segoe UI Semibold"/>
              </a:rPr>
              <a:t>0</a:t>
            </a:r>
          </a:p>
          <a:p>
            <a:r>
              <a:rPr sz="1100">
                <a:solidFill>
                  <a:srgbClr val="A9DBC8"/>
                </a:solidFill>
                <a:latin typeface="Segoe UI"/>
              </a:rPr>
              <a:t>hybrid failures</a:t>
            </a:r>
          </a:p>
        </p:txBody>
      </p:sp>
      <p:sp>
        <p:nvSpPr>
          <p:cNvPr id="27" name="Shape 27"/>
          <p:cNvSpPr/>
          <p:nvPr/>
        </p:nvSpPr>
        <p:spPr>
          <a:xfrm>
            <a:off x="4600000" y="4730000"/>
            <a:ext cx="1900000" cy="830000"/>
          </a:xfrm>
          <a:prstGeom prst="roundRect">
            <a:avLst/>
          </a:prstGeom>
          <a:solidFill>
            <a:srgbClr val="24233F"/>
          </a:solidFill>
        </p:spPr>
        <p:txBody>
          <a:bodyPr rtlCol="0" anchor="ctr"/>
          <a:lstStyle/>
          <a:p/>
        </p:txBody>
      </p:sp>
      <p:sp>
        <p:nvSpPr>
          <p:cNvPr id="28" name="TextBox 28"/>
          <p:cNvSpPr txBox="1"/>
          <p:nvPr/>
        </p:nvSpPr>
        <p:spPr>
          <a:xfrm>
            <a:off x="4810000" y="4930000"/>
            <a:ext cx="1500000" cy="400000"/>
          </a:xfrm>
          <a:prstGeom prst="rect">
            <a:avLst/>
          </a:prstGeom>
        </p:spPr>
        <p:txBody>
          <a:bodyPr wrap="square" rtlCol="0">
            <a:spAutoFit/>
          </a:bodyPr>
          <a:lstStyle/>
          <a:p>
            <a:r>
              <a:rPr b="1" sz="1700">
                <a:solidFill>
                  <a:srgbClr val="BFB1FF"/>
                </a:solidFill>
                <a:latin typeface="Segoe UI Semibold"/>
              </a:rPr>
              <a:t>0</a:t>
            </a:r>
          </a:p>
          <a:p>
            <a:r>
              <a:rPr sz="1100">
                <a:solidFill>
                  <a:srgbClr val="AFAAD0"/>
                </a:solidFill>
                <a:latin typeface="Segoe UI"/>
              </a:rPr>
              <a:t>sandboxes remaining</a:t>
            </a:r>
          </a:p>
        </p:txBody>
      </p:sp>
      <p:sp>
        <p:nvSpPr>
          <p:cNvPr id="29" name="Shape 29"/>
          <p:cNvSpPr/>
          <p:nvPr/>
        </p:nvSpPr>
        <p:spPr>
          <a:xfrm>
            <a:off x="6640000" y="4730000"/>
            <a:ext cx="1940000" cy="830000"/>
          </a:xfrm>
          <a:prstGeom prst="roundRect">
            <a:avLst/>
          </a:prstGeom>
          <a:solidFill>
            <a:srgbClr val="2B2B24"/>
          </a:solidFill>
        </p:spPr>
        <p:txBody>
          <a:bodyPr rtlCol="0" anchor="ctr"/>
          <a:lstStyle/>
          <a:p/>
        </p:txBody>
      </p:sp>
      <p:sp>
        <p:nvSpPr>
          <p:cNvPr id="30" name="TextBox 30"/>
          <p:cNvSpPr txBox="1"/>
          <p:nvPr/>
        </p:nvSpPr>
        <p:spPr>
          <a:xfrm>
            <a:off x="6850000" y="4930000"/>
            <a:ext cx="1540000" cy="400000"/>
          </a:xfrm>
          <a:prstGeom prst="rect">
            <a:avLst/>
          </a:prstGeom>
        </p:spPr>
        <p:txBody>
          <a:bodyPr wrap="square" rtlCol="0">
            <a:spAutoFit/>
          </a:bodyPr>
          <a:lstStyle/>
          <a:p>
            <a:r>
              <a:rPr b="1" sz="1700">
                <a:solidFill>
                  <a:srgbClr val="FFDA6A"/>
                </a:solidFill>
                <a:latin typeface="Segoe UI Semibold"/>
              </a:rPr>
              <a:t>17 / 17</a:t>
            </a:r>
          </a:p>
          <a:p>
            <a:r>
              <a:rPr sz="1100">
                <a:solidFill>
                  <a:srgbClr val="D8D0A8"/>
                </a:solidFill>
                <a:latin typeface="Segoe UI"/>
              </a:rPr>
              <a:t>fallback deletes confirmed</a:t>
            </a:r>
          </a:p>
        </p:txBody>
      </p:sp>
      <p:sp>
        <p:nvSpPr>
          <p:cNvPr id="31" name="Shape 31"/>
          <p:cNvSpPr/>
          <p:nvPr/>
        </p:nvSpPr>
        <p:spPr>
          <a:xfrm>
            <a:off x="520000" y="5840000"/>
            <a:ext cx="8060000" cy="600000"/>
          </a:xfrm>
          <a:prstGeom prst="roundRect">
            <a:avLst/>
          </a:prstGeom>
          <a:solidFill>
            <a:srgbClr val="163E63"/>
          </a:solidFill>
        </p:spPr>
        <p:txBody>
          <a:bodyPr rtlCol="0" anchor="ctr"/>
          <a:lstStyle/>
          <a:p/>
        </p:txBody>
      </p:sp>
      <p:sp>
        <p:nvSpPr>
          <p:cNvPr id="32" name="TextBox 32"/>
          <p:cNvSpPr txBox="1"/>
          <p:nvPr/>
        </p:nvSpPr>
        <p:spPr>
          <a:xfrm>
            <a:off x="840000" y="6010000"/>
            <a:ext cx="7450000" cy="260000"/>
          </a:xfrm>
          <a:prstGeom prst="rect">
            <a:avLst/>
          </a:prstGeom>
        </p:spPr>
        <p:txBody>
          <a:bodyPr wrap="square" rtlCol="0">
            <a:spAutoFit/>
          </a:bodyPr>
          <a:lstStyle/>
          <a:p>
            <a:r>
              <a:rPr b="1" sz="1600">
                <a:solidFill>
                  <a:srgbClr val="EAF6FF"/>
                </a:solidFill>
                <a:latin typeface="Segoe UI Semibold"/>
              </a:rPr>
              <a:t>Leadership decision: fund a productization design for the customer-controlled tool execution plane.</a:t>
            </a:r>
          </a:p>
        </p:txBody>
      </p:sp>
      <p:sp>
        <p:nvSpPr>
          <p:cNvPr id="33" name="TextBox 33"/>
          <p:cNvSpPr txBox="1"/>
          <p:nvPr/>
        </p:nvSpPr>
        <p:spPr>
          <a:xfrm>
            <a:off x="540000" y="6490000"/>
            <a:ext cx="7900000" cy="150000"/>
          </a:xfrm>
          <a:prstGeom prst="rect">
            <a:avLst/>
          </a:prstGeom>
        </p:spPr>
        <p:txBody>
          <a:bodyPr wrap="square" rtlCol="0">
            <a:spAutoFit/>
          </a:bodyPr>
          <a:lstStyle/>
          <a:p>
            <a:r>
              <a:rPr sz="900">
                <a:solidFill>
                  <a:srgbClr val="71839B"/>
                </a:solidFill>
                <a:latin typeface="Segoe UI"/>
              </a:rPr>
              <a:t>Next: supported configuration, capacity guidance, tenant isolation review, richer trace UX, and production SLOs.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9144000" cy="91440"/>
          </a:xfrm>
          <a:prstGeom prst="rect">
            <a:avLst/>
          </a:prstGeom>
          <a:solidFill>
            <a:srgbClr val="50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64592"/>
            <a:ext cx="8321040" cy="420624"/>
          </a:xfrm>
          <a:prstGeom prst="rect">
            <a:avLst/>
          </a:prstGeom>
          <a:noFill/>
        </p:spPr>
        <p:txBody>
          <a:bodyPr wrap="none">
            <a:spAutoFit/>
          </a:bodyPr>
          <a:lstStyle/>
          <a:p>
            <a:pPr algn="l"/>
            <a:r>
              <a:rPr sz="2400" b="1">
                <a:solidFill>
                  <a:srgbClr val="F7FAFC"/>
                </a:solidFill>
                <a:latin typeface="Segoe UI Semibold"/>
              </a:rPr>
              <a:t>Detailed request flow</a:t>
            </a:r>
          </a:p>
        </p:txBody>
      </p:sp>
      <p:sp>
        <p:nvSpPr>
          <p:cNvPr id="4" name="TextBox 3"/>
          <p:cNvSpPr txBox="1"/>
          <p:nvPr/>
        </p:nvSpPr>
        <p:spPr>
          <a:xfrm>
            <a:off x="429768" y="576072"/>
            <a:ext cx="8229600" cy="219456"/>
          </a:xfrm>
          <a:prstGeom prst="rect">
            <a:avLst/>
          </a:prstGeom>
          <a:noFill/>
        </p:spPr>
        <p:txBody>
          <a:bodyPr wrap="none">
            <a:spAutoFit/>
          </a:bodyPr>
          <a:lstStyle/>
          <a:p>
            <a:r>
              <a:rPr sz="900" b="1">
                <a:solidFill>
                  <a:srgbClr val="50E6FF"/>
                </a:solidFill>
                <a:latin typeface="Segoe UI"/>
              </a:rPr>
              <a:t>APPENDIX  |  FUNCTIONS CONTROL PLANE + CUSTOMER ACA ISOLATION</a:t>
            </a:r>
          </a:p>
        </p:txBody>
      </p:sp>
      <p:pic>
        <p:nvPicPr>
          <p:cNvPr id="5" name="Picture 4" descr="hybrid-request-flow.png"/>
          <p:cNvPicPr>
            <a:picLocks noChangeAspect="1"/>
          </p:cNvPicPr>
          <p:nvPr/>
        </p:nvPicPr>
        <p:blipFill>
          <a:blip r:embed="rId2"/>
          <a:stretch>
            <a:fillRect/>
          </a:stretch>
        </p:blipFill>
        <p:spPr>
          <a:xfrm>
            <a:off x="201168" y="822960"/>
            <a:ext cx="8741664" cy="4917186"/>
          </a:xfrm>
          <a:prstGeom prst="rect">
            <a:avLst/>
          </a:prstGeom>
        </p:spPr>
      </p:pic>
      <p:sp>
        <p:nvSpPr>
          <p:cNvPr id="6" name="TextBox 5"/>
          <p:cNvSpPr txBox="1"/>
          <p:nvPr/>
        </p:nvSpPr>
        <p:spPr>
          <a:xfrm>
            <a:off x="429768" y="6519672"/>
            <a:ext cx="8229600" cy="164592"/>
          </a:xfrm>
          <a:prstGeom prst="rect">
            <a:avLst/>
          </a:prstGeom>
          <a:noFill/>
        </p:spPr>
        <p:txBody>
          <a:bodyPr wrap="none">
            <a:spAutoFit/>
          </a:bodyPr>
          <a:lstStyle/>
          <a:p>
            <a:r>
              <a:rPr sz="750">
                <a:solidFill>
                  <a:srgbClr val="71839B"/>
                </a:solidFill>
                <a:latin typeface="Segoe UI"/>
              </a:rPr>
              <a:t>Editable source: request-flow.mmd  |  Vector: evidence/hybrid-request-flow.svg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