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Open with the outcome: we proved that a serverless agent can keep its model loop and Hosted Skills in Azure Functions while every locally executable tool runs in a fresh, customer-owned ACA Sandbox. APIM remains the governed gateway for both Foundry model calls and remote MCP. This presentation uses the live retained spike environment and actual telemetry.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Frame the problem, not just the technology. Agents become dramatically more useful when they can execute customer Python, shell, file, and search tools. But putting those tools inside the Functions worker expands the blast radius. The spike separates trusted orchestration from untrusted execution without moving the model loop or privileged remote connectors into the sandbox.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Walk left to right. The Hosted Skill endpoint and MAF model loop stay in Azure Functions. Every model call and remote MCP call crosses a dedicated APIM API with subscription protection and W3C correlation. When MAF selects a local tool, middleware intercepts only the exact sandbox-generated stub and routes it down to one fresh customer ACA Sandbox. Customer managed identity, egress policy, and tool code stay on that side of the boundary.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measured lifecycle for each invocation. A fresh sandbox takes about three seconds to create. The optimized thin bundle uploads in about 135 milliseconds, and executor readiness averages 333 milliseconds. Local tool execution itself is sub-millisecond for the deterministic probe. Cleanup is handed off in about 50 milliseconds: we wait only for server-side delete acceptance, while autosuspend, autodelete, and the scoped reaper remain backstops. The whole request averages 10.65 seconds; model calls are now the largest variable component.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core of the live demo. We start a real Hosted Skill invocation, then show the same request across Function monitoring, APIM model and MCP telemetry, the ACA Sandbox Group, and Application Insights. The final edit will replace these four frames with actual captured portal evidence from the same correlated request window. No mocks and no body logging.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Close with measured impact and a concrete ask. Against the canonical baseline, average runtime latency dropped 48 percent, c1 p50 dropped 54 percent, and c10 p50 dropped 33 percent. All 21 optimized requests succeeded, there were no hybrid failures, inventory returned to zero, and APIM added only about 1.3 milliseconds p50 gateway overhead. The recommendation is not to call this production-ready; it is to fund a productization design for a supported customer-controlled tool execution plane.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120000" cy="6858000"/>
          </a:xfrm>
          <a:prstGeom prst="rect">
            <a:avLst/>
          </a:prstGeom>
          <a:solidFill>
            <a:srgbClr val="50E6FF"/>
          </a:solidFill>
        </p:spPr>
        <p:txBody>
          <a:bodyPr rtlCol="0" anchor="ctr"/>
          <a:lstStyle/>
          <a:p/>
        </p:txBody>
      </p:sp>
      <p:sp>
        <p:nvSpPr>
          <p:cNvPr id="4" name="TextBox 4"/>
          <p:cNvSpPr txBox="1"/>
          <p:nvPr/>
        </p:nvSpPr>
        <p:spPr>
          <a:xfrm>
            <a:off x="620000" y="520000"/>
            <a:ext cx="6200000" cy="300000"/>
          </a:xfrm>
          <a:prstGeom prst="rect">
            <a:avLst/>
          </a:prstGeom>
        </p:spPr>
        <p:txBody>
          <a:bodyPr wrap="square" rtlCol="0">
            <a:spAutoFit/>
          </a:bodyPr>
          <a:lstStyle/>
          <a:p>
            <a:r>
              <a:rPr b="1" sz="1300" spc="120">
                <a:solidFill>
                  <a:srgbClr val="50E6FF"/>
                </a:solidFill>
                <a:latin typeface="Segoe UI"/>
              </a:rPr>
              <a:t>LEADERSHIP DEMO  |  LIVE AZURE SPIKE</a:t>
            </a:r>
          </a:p>
        </p:txBody>
      </p:sp>
      <p:sp>
        <p:nvSpPr>
          <p:cNvPr id="5" name="TextBox 5"/>
          <p:cNvSpPr txBox="1"/>
          <p:nvPr/>
        </p:nvSpPr>
        <p:spPr>
          <a:xfrm>
            <a:off x="620000" y="1400000"/>
            <a:ext cx="7800000" cy="1450000"/>
          </a:xfrm>
          <a:prstGeom prst="rect">
            <a:avLst/>
          </a:prstGeom>
        </p:spPr>
        <p:txBody>
          <a:bodyPr wrap="square" rtlCol="0">
            <a:spAutoFit/>
          </a:bodyPr>
          <a:lstStyle/>
          <a:p>
            <a:r>
              <a:rPr b="1" sz="3600">
                <a:solidFill>
                  <a:srgbClr val="F7FAFC"/>
                </a:solidFill>
                <a:latin typeface="Segoe UI Semibold"/>
              </a:rPr>
              <a:t>Customer-owned sandboxes for every tool call</a:t>
            </a:r>
          </a:p>
        </p:txBody>
      </p:sp>
      <p:sp>
        <p:nvSpPr>
          <p:cNvPr id="6" name="TextBox 6"/>
          <p:cNvSpPr txBox="1"/>
          <p:nvPr/>
        </p:nvSpPr>
        <p:spPr>
          <a:xfrm>
            <a:off x="640000" y="2930000"/>
            <a:ext cx="6900000" cy="650000"/>
          </a:xfrm>
          <a:prstGeom prst="rect">
            <a:avLst/>
          </a:prstGeom>
        </p:spPr>
        <p:txBody>
          <a:bodyPr wrap="square" rtlCol="0">
            <a:spAutoFit/>
          </a:bodyPr>
          <a:lstStyle/>
          <a:p>
            <a:r>
              <a:rPr sz="1800">
                <a:solidFill>
                  <a:srgbClr val="B8C7DC"/>
                </a:solidFill>
                <a:latin typeface="Segoe UI"/>
              </a:rPr>
              <a:t>Keep agent orchestration in Azure Functions. Route model and MCP traffic through APIM. Execute customer code only inside a fresh ACA Sandbox.</a:t>
            </a:r>
          </a:p>
        </p:txBody>
      </p:sp>
      <p:sp>
        <p:nvSpPr>
          <p:cNvPr id="7" name="Shape 7"/>
          <p:cNvSpPr/>
          <p:nvPr/>
        </p:nvSpPr>
        <p:spPr>
          <a:xfrm>
            <a:off x="640000" y="4200000"/>
            <a:ext cx="2100000" cy="930000"/>
          </a:xfrm>
          <a:prstGeom prst="roundRect">
            <a:avLst/>
          </a:prstGeom>
          <a:solidFill>
            <a:srgbClr val="172A46"/>
          </a:solidFill>
        </p:spPr>
        <p:txBody>
          <a:bodyPr rtlCol="0" anchor="ctr"/>
          <a:lstStyle/>
          <a:p/>
        </p:txBody>
      </p:sp>
      <p:sp>
        <p:nvSpPr>
          <p:cNvPr id="8" name="TextBox 8"/>
          <p:cNvSpPr txBox="1"/>
          <p:nvPr/>
        </p:nvSpPr>
        <p:spPr>
          <a:xfrm>
            <a:off x="820000" y="4420000"/>
            <a:ext cx="1750000" cy="450000"/>
          </a:xfrm>
          <a:prstGeom prst="rect">
            <a:avLst/>
          </a:prstGeom>
        </p:spPr>
        <p:txBody>
          <a:bodyPr wrap="square" rtlCol="0">
            <a:spAutoFit/>
          </a:bodyPr>
          <a:lstStyle/>
          <a:p>
            <a:r>
              <a:rPr b="1" sz="1600">
                <a:solidFill>
                  <a:srgbClr val="F7FAFC"/>
                </a:solidFill>
                <a:latin typeface="Segoe UI Semibold"/>
              </a:rPr>
              <a:t>Azure Functions</a:t>
            </a:r>
          </a:p>
          <a:p>
            <a:r>
              <a:rPr sz="1200">
                <a:solidFill>
                  <a:srgbClr val="A7B5CB"/>
                </a:solidFill>
                <a:latin typeface="Segoe UI"/>
              </a:rPr>
              <a:t>Hosted Skills + MAF</a:t>
            </a:r>
          </a:p>
        </p:txBody>
      </p:sp>
      <p:sp>
        <p:nvSpPr>
          <p:cNvPr id="9" name="Shape 9"/>
          <p:cNvSpPr/>
          <p:nvPr/>
        </p:nvSpPr>
        <p:spPr>
          <a:xfrm>
            <a:off x="2850000" y="4490000"/>
            <a:ext cx="520000" cy="320000"/>
          </a:xfrm>
          <a:prstGeom prst="rightArrow">
            <a:avLst/>
          </a:prstGeom>
          <a:solidFill>
            <a:srgbClr val="287FD1"/>
          </a:solidFill>
        </p:spPr>
        <p:txBody>
          <a:bodyPr rtlCol="0" anchor="ctr"/>
          <a:lstStyle/>
          <a:p/>
        </p:txBody>
      </p:sp>
      <p:sp>
        <p:nvSpPr>
          <p:cNvPr id="10" name="Shape 10"/>
          <p:cNvSpPr/>
          <p:nvPr/>
        </p:nvSpPr>
        <p:spPr>
          <a:xfrm>
            <a:off x="3480000" y="4200000"/>
            <a:ext cx="2100000" cy="930000"/>
          </a:xfrm>
          <a:prstGeom prst="roundRect">
            <a:avLst/>
          </a:prstGeom>
          <a:solidFill>
            <a:srgbClr val="0E4B78"/>
          </a:solidFill>
        </p:spPr>
        <p:txBody>
          <a:bodyPr rtlCol="0" anchor="ctr"/>
          <a:lstStyle/>
          <a:p/>
        </p:txBody>
      </p:sp>
      <p:sp>
        <p:nvSpPr>
          <p:cNvPr id="11" name="TextBox 11"/>
          <p:cNvSpPr txBox="1"/>
          <p:nvPr/>
        </p:nvSpPr>
        <p:spPr>
          <a:xfrm>
            <a:off x="3670000" y="4420000"/>
            <a:ext cx="1730000" cy="450000"/>
          </a:xfrm>
          <a:prstGeom prst="rect">
            <a:avLst/>
          </a:prstGeom>
        </p:spPr>
        <p:txBody>
          <a:bodyPr wrap="square" rtlCol="0">
            <a:spAutoFit/>
          </a:bodyPr>
          <a:lstStyle/>
          <a:p>
            <a:r>
              <a:rPr b="1" sz="1600">
                <a:solidFill>
                  <a:srgbClr val="F7FAFC"/>
                </a:solidFill>
                <a:latin typeface="Segoe UI Semibold"/>
              </a:rPr>
              <a:t>API Management</a:t>
            </a:r>
          </a:p>
          <a:p>
            <a:r>
              <a:rPr sz="1200">
                <a:solidFill>
                  <a:srgbClr val="B7E7FF"/>
                </a:solidFill>
                <a:latin typeface="Segoe UI"/>
              </a:rPr>
              <a:t>Foundry + MCP</a:t>
            </a:r>
          </a:p>
        </p:txBody>
      </p:sp>
      <p:sp>
        <p:nvSpPr>
          <p:cNvPr id="12" name="Shape 12"/>
          <p:cNvSpPr/>
          <p:nvPr/>
        </p:nvSpPr>
        <p:spPr>
          <a:xfrm>
            <a:off x="5680000" y="4490000"/>
            <a:ext cx="520000" cy="320000"/>
          </a:xfrm>
          <a:prstGeom prst="rightArrow">
            <a:avLst/>
          </a:prstGeom>
          <a:solidFill>
            <a:srgbClr val="287FD1"/>
          </a:solidFill>
        </p:spPr>
        <p:txBody>
          <a:bodyPr rtlCol="0" anchor="ctr"/>
          <a:lstStyle/>
          <a:p/>
        </p:txBody>
      </p:sp>
      <p:sp>
        <p:nvSpPr>
          <p:cNvPr id="13" name="Shape 13"/>
          <p:cNvSpPr/>
          <p:nvPr/>
        </p:nvSpPr>
        <p:spPr>
          <a:xfrm>
            <a:off x="6310000" y="4200000"/>
            <a:ext cx="2100000" cy="930000"/>
          </a:xfrm>
          <a:prstGeom prst="roundRect">
            <a:avLst/>
          </a:prstGeom>
          <a:solidFill>
            <a:srgbClr val="163B34"/>
          </a:solidFill>
        </p:spPr>
        <p:txBody>
          <a:bodyPr rtlCol="0" anchor="ctr"/>
          <a:lstStyle/>
          <a:p/>
        </p:txBody>
      </p:sp>
      <p:sp>
        <p:nvSpPr>
          <p:cNvPr id="14" name="TextBox 14"/>
          <p:cNvSpPr txBox="1"/>
          <p:nvPr/>
        </p:nvSpPr>
        <p:spPr>
          <a:xfrm>
            <a:off x="6490000" y="4420000"/>
            <a:ext cx="1750000" cy="450000"/>
          </a:xfrm>
          <a:prstGeom prst="rect">
            <a:avLst/>
          </a:prstGeom>
        </p:spPr>
        <p:txBody>
          <a:bodyPr wrap="square" rtlCol="0">
            <a:spAutoFit/>
          </a:bodyPr>
          <a:lstStyle/>
          <a:p>
            <a:r>
              <a:rPr b="1" sz="1600">
                <a:solidFill>
                  <a:srgbClr val="F7FAFC"/>
                </a:solidFill>
                <a:latin typeface="Segoe UI Semibold"/>
              </a:rPr>
              <a:t>ACA Sandbox</a:t>
            </a:r>
          </a:p>
          <a:p>
            <a:r>
              <a:rPr sz="1200">
                <a:solidFill>
                  <a:srgbClr val="9DE6C8"/>
                </a:solidFill>
                <a:latin typeface="Segoe UI"/>
              </a:rPr>
              <a:t>Isolated local tools</a:t>
            </a:r>
          </a:p>
        </p:txBody>
      </p:sp>
      <p:sp>
        <p:nvSpPr>
          <p:cNvPr id="15" name="TextBox 15"/>
          <p:cNvSpPr txBox="1"/>
          <p:nvPr/>
        </p:nvSpPr>
        <p:spPr>
          <a:xfrm>
            <a:off x="640000" y="6190000"/>
            <a:ext cx="7800000" cy="250000"/>
          </a:xfrm>
          <a:prstGeom prst="rect">
            <a:avLst/>
          </a:prstGeom>
        </p:spPr>
        <p:txBody>
          <a:bodyPr wrap="square" rtlCol="0">
            <a:spAutoFit/>
          </a:bodyPr>
          <a:lstStyle/>
          <a:p>
            <a:r>
              <a:rPr sz="1000">
                <a:solidFill>
                  <a:srgbClr val="71839B"/>
                </a:solidFill>
                <a:latin typeface="Segoe UI"/>
              </a:rPr>
              <a:t>Azure Functions Agents Runtime  |  Experimental hybrid tool execution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0078D4"/>
          </a:solidFill>
        </p:spPr>
        <p:txBody>
          <a:bodyPr rtlCol="0" anchor="ctr"/>
          <a:lstStyle/>
          <a:p/>
        </p:txBody>
      </p:sp>
      <p:sp>
        <p:nvSpPr>
          <p:cNvPr id="4" name="TextBox 4"/>
          <p:cNvSpPr txBox="1"/>
          <p:nvPr/>
        </p:nvSpPr>
        <p:spPr>
          <a:xfrm>
            <a:off x="560000" y="390000"/>
            <a:ext cx="7900000" cy="560000"/>
          </a:xfrm>
          <a:prstGeom prst="rect">
            <a:avLst/>
          </a:prstGeom>
        </p:spPr>
        <p:txBody>
          <a:bodyPr wrap="square" rtlCol="0">
            <a:spAutoFit/>
          </a:bodyPr>
          <a:lstStyle/>
          <a:p>
            <a:r>
              <a:rPr b="1" sz="2800">
                <a:solidFill>
                  <a:srgbClr val="F7FAFC"/>
                </a:solidFill>
                <a:latin typeface="Segoe UI Semibold"/>
              </a:rPr>
              <a:t>Powerful agents need a safer place to act</a:t>
            </a:r>
          </a:p>
        </p:txBody>
      </p:sp>
      <p:sp>
        <p:nvSpPr>
          <p:cNvPr id="5" name="TextBox 5"/>
          <p:cNvSpPr txBox="1"/>
          <p:nvPr/>
        </p:nvSpPr>
        <p:spPr>
          <a:xfrm>
            <a:off x="580000" y="980000"/>
            <a:ext cx="7700000" cy="320000"/>
          </a:xfrm>
          <a:prstGeom prst="rect">
            <a:avLst/>
          </a:prstGeom>
        </p:spPr>
        <p:txBody>
          <a:bodyPr wrap="square" rtlCol="0">
            <a:spAutoFit/>
          </a:bodyPr>
          <a:lstStyle/>
          <a:p>
            <a:r>
              <a:rPr b="1" sz="1100" spc="110">
                <a:solidFill>
                  <a:srgbClr val="50E6FF"/>
                </a:solidFill>
                <a:latin typeface="Segoe UI"/>
              </a:rPr>
              <a:t>THE DESIGN TENSION</a:t>
            </a:r>
          </a:p>
        </p:txBody>
      </p:sp>
      <p:sp>
        <p:nvSpPr>
          <p:cNvPr id="6" name="Shape 6"/>
          <p:cNvSpPr/>
          <p:nvPr/>
        </p:nvSpPr>
        <p:spPr>
          <a:xfrm>
            <a:off x="580000" y="1570000"/>
            <a:ext cx="3700000" cy="3400000"/>
          </a:xfrm>
          <a:prstGeom prst="roundRect">
            <a:avLst/>
          </a:prstGeom>
          <a:solidFill>
            <a:srgbClr val="2A1923"/>
          </a:solidFill>
        </p:spPr>
        <p:txBody>
          <a:bodyPr rtlCol="0" anchor="ctr"/>
          <a:lstStyle/>
          <a:p/>
        </p:txBody>
      </p:sp>
      <p:sp>
        <p:nvSpPr>
          <p:cNvPr id="7" name="TextBox 7"/>
          <p:cNvSpPr txBox="1"/>
          <p:nvPr/>
        </p:nvSpPr>
        <p:spPr>
          <a:xfrm>
            <a:off x="900000" y="1860000"/>
            <a:ext cx="3000000" cy="430000"/>
          </a:xfrm>
          <a:prstGeom prst="rect">
            <a:avLst/>
          </a:prstGeom>
        </p:spPr>
        <p:txBody>
          <a:bodyPr wrap="square" rtlCol="0">
            <a:spAutoFit/>
          </a:bodyPr>
          <a:lstStyle/>
          <a:p>
            <a:r>
              <a:rPr b="1" sz="2000">
                <a:solidFill>
                  <a:srgbClr val="FFB4C0"/>
                </a:solidFill>
                <a:latin typeface="Segoe UI Semibold"/>
              </a:rPr>
              <a:t>If tools run in the worker</a:t>
            </a:r>
          </a:p>
        </p:txBody>
      </p:sp>
      <p:sp>
        <p:nvSpPr>
          <p:cNvPr id="8" name="TextBox 8"/>
          <p:cNvSpPr txBox="1"/>
          <p:nvPr/>
        </p:nvSpPr>
        <p:spPr>
          <a:xfrm>
            <a:off x="920000" y="2510000"/>
            <a:ext cx="2900000" cy="1550000"/>
          </a:xfrm>
          <a:prstGeom prst="rect">
            <a:avLst/>
          </a:prstGeom>
        </p:spPr>
        <p:txBody>
          <a:bodyPr wrap="square" rtlCol="0">
            <a:spAutoFit/>
          </a:bodyPr>
          <a:lstStyle/>
          <a:p>
            <a:r>
              <a:rPr sz="1400">
                <a:solidFill>
                  <a:srgbClr val="E8CCD2"/>
                </a:solidFill>
                <a:latin typeface="Segoe UI"/>
              </a:rPr>
              <a:t>Customer code shares the Functions process</a:t>
            </a:r>
          </a:p>
          <a:p>
            <a:r>
              <a:rPr sz="1400">
                <a:solidFill>
                  <a:srgbClr val="E8CCD2"/>
                </a:solidFill>
                <a:latin typeface="Segoe UI"/>
              </a:rPr>
              <a:t>Shell and file access expand the blast radius</a:t>
            </a:r>
          </a:p>
          <a:p>
            <a:r>
              <a:rPr sz="1400">
                <a:solidFill>
                  <a:srgbClr val="E8CCD2"/>
                </a:solidFill>
                <a:latin typeface="Segoe UI"/>
              </a:rPr>
              <a:t>Credentials and host state are harder to isolate</a:t>
            </a:r>
          </a:p>
          <a:p>
            <a:r>
              <a:rPr sz="1400">
                <a:solidFill>
                  <a:srgbClr val="E8CCD2"/>
                </a:solidFill>
                <a:latin typeface="Segoe UI"/>
              </a:rPr>
              <a:t>Cleanup is coupled to request completion</a:t>
            </a:r>
          </a:p>
        </p:txBody>
      </p:sp>
      <p:sp>
        <p:nvSpPr>
          <p:cNvPr id="9" name="Shape 9"/>
          <p:cNvSpPr/>
          <p:nvPr/>
        </p:nvSpPr>
        <p:spPr>
          <a:xfrm>
            <a:off x="4340000" y="2930000"/>
            <a:ext cx="560000" cy="430000"/>
          </a:xfrm>
          <a:prstGeom prst="rightArrow">
            <a:avLst/>
          </a:prstGeom>
          <a:solidFill>
            <a:srgbClr val="50E6FF"/>
          </a:solidFill>
        </p:spPr>
        <p:txBody>
          <a:bodyPr rtlCol="0" anchor="ctr"/>
          <a:lstStyle/>
          <a:p/>
        </p:txBody>
      </p:sp>
      <p:sp>
        <p:nvSpPr>
          <p:cNvPr id="10" name="Shape 10"/>
          <p:cNvSpPr/>
          <p:nvPr/>
        </p:nvSpPr>
        <p:spPr>
          <a:xfrm>
            <a:off x="5180000" y="1570000"/>
            <a:ext cx="3380000" cy="3400000"/>
          </a:xfrm>
          <a:prstGeom prst="roundRect">
            <a:avLst/>
          </a:prstGeom>
          <a:solidFill>
            <a:srgbClr val="12342E"/>
          </a:solidFill>
        </p:spPr>
        <p:txBody>
          <a:bodyPr rtlCol="0" anchor="ctr"/>
          <a:lstStyle/>
          <a:p/>
        </p:txBody>
      </p:sp>
      <p:sp>
        <p:nvSpPr>
          <p:cNvPr id="11" name="TextBox 11"/>
          <p:cNvSpPr txBox="1"/>
          <p:nvPr/>
        </p:nvSpPr>
        <p:spPr>
          <a:xfrm>
            <a:off x="5480000" y="1860000"/>
            <a:ext cx="2800000" cy="430000"/>
          </a:xfrm>
          <a:prstGeom prst="rect">
            <a:avLst/>
          </a:prstGeom>
        </p:spPr>
        <p:txBody>
          <a:bodyPr wrap="square" rtlCol="0">
            <a:spAutoFit/>
          </a:bodyPr>
          <a:lstStyle/>
          <a:p>
            <a:r>
              <a:rPr b="1" sz="2000">
                <a:solidFill>
                  <a:srgbClr val="9DE6C8"/>
                </a:solidFill>
                <a:latin typeface="Segoe UI Semibold"/>
              </a:rPr>
              <a:t>If tools run in ACA Sandbox</a:t>
            </a:r>
          </a:p>
        </p:txBody>
      </p:sp>
      <p:sp>
        <p:nvSpPr>
          <p:cNvPr id="12" name="TextBox 12"/>
          <p:cNvSpPr txBox="1"/>
          <p:nvPr/>
        </p:nvSpPr>
        <p:spPr>
          <a:xfrm>
            <a:off x="5500000" y="2510000"/>
            <a:ext cx="2700000" cy="1550000"/>
          </a:xfrm>
          <a:prstGeom prst="rect">
            <a:avLst/>
          </a:prstGeom>
        </p:spPr>
        <p:txBody>
          <a:bodyPr wrap="square" rtlCol="0">
            <a:spAutoFit/>
          </a:bodyPr>
          <a:lstStyle/>
          <a:p>
            <a:r>
              <a:rPr sz="1400">
                <a:solidFill>
                  <a:srgbClr val="D0EEE2"/>
                </a:solidFill>
                <a:latin typeface="Segoe UI"/>
              </a:rPr>
              <a:t>One fresh customer-owned boundary per invocation</a:t>
            </a:r>
          </a:p>
          <a:p>
            <a:r>
              <a:rPr sz="1400">
                <a:solidFill>
                  <a:srgbClr val="D0EEE2"/>
                </a:solidFill>
                <a:latin typeface="Segoe UI"/>
              </a:rPr>
              <a:t>Customer managed identity and network policy</a:t>
            </a:r>
          </a:p>
          <a:p>
            <a:r>
              <a:rPr sz="1400">
                <a:solidFill>
                  <a:srgbClr val="D0EEE2"/>
                </a:solidFill>
                <a:latin typeface="Segoe UI"/>
              </a:rPr>
              <a:t>No public ingress; deny-by-default egress</a:t>
            </a:r>
          </a:p>
          <a:p>
            <a:r>
              <a:rPr sz="1400">
                <a:solidFill>
                  <a:srgbClr val="D0EEE2"/>
                </a:solidFill>
                <a:latin typeface="Segoe UI"/>
              </a:rPr>
              <a:t>Server-side deletion plus lifecycle fallback</a:t>
            </a:r>
          </a:p>
        </p:txBody>
      </p:sp>
      <p:sp>
        <p:nvSpPr>
          <p:cNvPr id="13" name="Shape 13"/>
          <p:cNvSpPr/>
          <p:nvPr/>
        </p:nvSpPr>
        <p:spPr>
          <a:xfrm>
            <a:off x="580000" y="5360000"/>
            <a:ext cx="7980000" cy="780000"/>
          </a:xfrm>
          <a:prstGeom prst="roundRect">
            <a:avLst/>
          </a:prstGeom>
          <a:solidFill>
            <a:srgbClr val="123057"/>
          </a:solidFill>
        </p:spPr>
        <p:txBody>
          <a:bodyPr rtlCol="0" anchor="ctr"/>
          <a:lstStyle/>
          <a:p/>
        </p:txBody>
      </p:sp>
      <p:sp>
        <p:nvSpPr>
          <p:cNvPr id="14" name="TextBox 14"/>
          <p:cNvSpPr txBox="1"/>
          <p:nvPr/>
        </p:nvSpPr>
        <p:spPr>
          <a:xfrm>
            <a:off x="880000" y="5560000"/>
            <a:ext cx="7400000" cy="360000"/>
          </a:xfrm>
          <a:prstGeom prst="rect">
            <a:avLst/>
          </a:prstGeom>
        </p:spPr>
        <p:txBody>
          <a:bodyPr wrap="square" rtlCol="0">
            <a:spAutoFit/>
          </a:bodyPr>
          <a:lstStyle/>
          <a:p>
            <a:r>
              <a:rPr b="1" sz="1600">
                <a:solidFill>
                  <a:srgbClr val="EAF6FF"/>
                </a:solidFill>
                <a:latin typeface="Segoe UI Semibold"/>
              </a:rPr>
              <a:t>The split-plane bet: keep trusted orchestration close to the app; move untrusted execution into customer-controlled isolation.</a:t>
            </a:r>
          </a:p>
        </p:txBody>
      </p:sp>
      <p:sp>
        <p:nvSpPr>
          <p:cNvPr id="15" name="TextBox 15"/>
          <p:cNvSpPr txBox="1"/>
          <p:nvPr/>
        </p:nvSpPr>
        <p:spPr>
          <a:xfrm>
            <a:off x="580000" y="6410000"/>
            <a:ext cx="7700000" cy="180000"/>
          </a:xfrm>
          <a:prstGeom prst="rect">
            <a:avLst/>
          </a:prstGeom>
        </p:spPr>
        <p:txBody>
          <a:bodyPr wrap="square" rtlCol="0">
            <a:spAutoFit/>
          </a:bodyPr>
          <a:lstStyle/>
          <a:p>
            <a:r>
              <a:rPr sz="900">
                <a:solidFill>
                  <a:srgbClr val="71839B"/>
                </a:solidFill>
                <a:latin typeface="Segoe UI"/>
              </a:rPr>
              <a:t>Private experimental path; no public authoring surface changed.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00000" y="330000"/>
            <a:ext cx="8000000" cy="500000"/>
          </a:xfrm>
          <a:prstGeom prst="rect">
            <a:avLst/>
          </a:prstGeom>
        </p:spPr>
        <p:txBody>
          <a:bodyPr wrap="square" rtlCol="0">
            <a:spAutoFit/>
          </a:bodyPr>
          <a:lstStyle/>
          <a:p>
            <a:r>
              <a:rPr b="1" sz="2800">
                <a:solidFill>
                  <a:srgbClr val="F7FAFC"/>
                </a:solidFill>
                <a:latin typeface="Segoe UI Semibold"/>
              </a:rPr>
              <a:t>One request. Two governed execution planes.</a:t>
            </a:r>
          </a:p>
        </p:txBody>
      </p:sp>
      <p:sp>
        <p:nvSpPr>
          <p:cNvPr id="5" name="TextBox 5"/>
          <p:cNvSpPr txBox="1"/>
          <p:nvPr/>
        </p:nvSpPr>
        <p:spPr>
          <a:xfrm>
            <a:off x="520000" y="900000"/>
            <a:ext cx="8000000" cy="270000"/>
          </a:xfrm>
          <a:prstGeom prst="rect">
            <a:avLst/>
          </a:prstGeom>
        </p:spPr>
        <p:txBody>
          <a:bodyPr wrap="square" rtlCol="0">
            <a:spAutoFit/>
          </a:bodyPr>
          <a:lstStyle/>
          <a:p>
            <a:r>
              <a:rPr b="1" sz="1000" spc="80">
                <a:solidFill>
                  <a:srgbClr val="50E6FF"/>
                </a:solidFill>
                <a:latin typeface="Segoe UI"/>
              </a:rPr>
              <a:t>LIVE ARCHITECTURE  |  HOSTED SKILL ORCHESTRATION + CUSTOMER-OWNED TOOL ISOLATION</a:t>
            </a:r>
          </a:p>
        </p:txBody>
      </p:sp>
      <p:sp>
        <p:nvSpPr>
          <p:cNvPr id="6" name="Shape 6"/>
          <p:cNvSpPr/>
          <p:nvPr/>
        </p:nvSpPr>
        <p:spPr>
          <a:xfrm>
            <a:off x="350000" y="2100000"/>
            <a:ext cx="1200000" cy="1120000"/>
          </a:xfrm>
          <a:prstGeom prst="roundRect">
            <a:avLst/>
          </a:prstGeom>
          <a:solidFill>
            <a:srgbClr val="1D2B3D"/>
          </a:solidFill>
        </p:spPr>
        <p:txBody>
          <a:bodyPr rtlCol="0" anchor="ctr"/>
          <a:lstStyle/>
          <a:p/>
        </p:txBody>
      </p:sp>
      <p:sp>
        <p:nvSpPr>
          <p:cNvPr id="7" name="TextBox 7"/>
          <p:cNvSpPr txBox="1"/>
          <p:nvPr/>
        </p:nvSpPr>
        <p:spPr>
          <a:xfrm>
            <a:off x="510000" y="2370000"/>
            <a:ext cx="900000" cy="520000"/>
          </a:xfrm>
          <a:prstGeom prst="rect">
            <a:avLst/>
          </a:prstGeom>
        </p:spPr>
        <p:txBody>
          <a:bodyPr wrap="square" rtlCol="0">
            <a:spAutoFit/>
          </a:bodyPr>
          <a:lstStyle/>
          <a:p>
            <a:r>
              <a:rPr b="1" sz="1700">
                <a:solidFill>
                  <a:srgbClr val="F7FAFC"/>
                </a:solidFill>
                <a:latin typeface="Segoe UI Semibold"/>
              </a:rPr>
              <a:t>Client</a:t>
            </a:r>
          </a:p>
          <a:p>
            <a:r>
              <a:rPr sz="1300">
                <a:solidFill>
                  <a:srgbClr val="A7B5CB"/>
                </a:solidFill>
                <a:latin typeface="Segoe UI"/>
              </a:rPr>
              <a:t>request</a:t>
            </a:r>
          </a:p>
        </p:txBody>
      </p:sp>
      <p:sp>
        <p:nvSpPr>
          <p:cNvPr id="8" name="Shape 8"/>
          <p:cNvSpPr/>
          <p:nvPr/>
        </p:nvSpPr>
        <p:spPr>
          <a:xfrm>
            <a:off x="1570000" y="2460000"/>
            <a:ext cx="460000" cy="340000"/>
          </a:xfrm>
          <a:prstGeom prst="rightArrow">
            <a:avLst/>
          </a:prstGeom>
          <a:solidFill>
            <a:srgbClr val="287FD1"/>
          </a:solidFill>
        </p:spPr>
        <p:txBody>
          <a:bodyPr rtlCol="0" anchor="ctr"/>
          <a:lstStyle/>
          <a:p/>
        </p:txBody>
      </p:sp>
      <p:sp>
        <p:nvSpPr>
          <p:cNvPr id="9" name="Shape 9"/>
          <p:cNvSpPr/>
          <p:nvPr/>
        </p:nvSpPr>
        <p:spPr>
          <a:xfrm>
            <a:off x="2090000" y="1450000"/>
            <a:ext cx="2250000" cy="4310000"/>
          </a:xfrm>
          <a:prstGeom prst="roundRect">
            <a:avLst/>
          </a:prstGeom>
          <a:solidFill>
            <a:srgbClr val="12233D"/>
          </a:solidFill>
        </p:spPr>
        <p:txBody>
          <a:bodyPr rtlCol="0" anchor="ctr"/>
          <a:lstStyle/>
          <a:p/>
        </p:txBody>
      </p:sp>
      <p:sp>
        <p:nvSpPr>
          <p:cNvPr id="10" name="TextBox 10"/>
          <p:cNvSpPr txBox="1"/>
          <p:nvPr/>
        </p:nvSpPr>
        <p:spPr>
          <a:xfrm>
            <a:off x="2330000" y="1690000"/>
            <a:ext cx="1800000" cy="320000"/>
          </a:xfrm>
          <a:prstGeom prst="rect">
            <a:avLst/>
          </a:prstGeom>
        </p:spPr>
        <p:txBody>
          <a:bodyPr wrap="square" rtlCol="0">
            <a:spAutoFit/>
          </a:bodyPr>
          <a:lstStyle/>
          <a:p>
            <a:r>
              <a:rPr b="1" sz="1100" spc="90">
                <a:solidFill>
                  <a:srgbClr val="66C7FF"/>
                </a:solidFill>
                <a:latin typeface="Segoe UI"/>
              </a:rPr>
              <a:t>AZURE FUNCTIONS</a:t>
            </a:r>
          </a:p>
        </p:txBody>
      </p:sp>
      <p:sp>
        <p:nvSpPr>
          <p:cNvPr id="11" name="Shape 11"/>
          <p:cNvSpPr/>
          <p:nvPr/>
        </p:nvSpPr>
        <p:spPr>
          <a:xfrm>
            <a:off x="2350000" y="2200000"/>
            <a:ext cx="1730000" cy="920000"/>
          </a:xfrm>
          <a:prstGeom prst="roundRect">
            <a:avLst/>
          </a:prstGeom>
          <a:solidFill>
            <a:srgbClr val="194E7A"/>
          </a:solidFill>
        </p:spPr>
        <p:txBody>
          <a:bodyPr rtlCol="0" anchor="ctr"/>
          <a:lstStyle/>
          <a:p/>
        </p:txBody>
      </p:sp>
      <p:sp>
        <p:nvSpPr>
          <p:cNvPr id="12" name="TextBox 12"/>
          <p:cNvSpPr txBox="1"/>
          <p:nvPr/>
        </p:nvSpPr>
        <p:spPr>
          <a:xfrm>
            <a:off x="2550000" y="2420000"/>
            <a:ext cx="1350000" cy="430000"/>
          </a:xfrm>
          <a:prstGeom prst="rect">
            <a:avLst/>
          </a:prstGeom>
        </p:spPr>
        <p:txBody>
          <a:bodyPr wrap="square" rtlCol="0">
            <a:spAutoFit/>
          </a:bodyPr>
          <a:lstStyle/>
          <a:p>
            <a:r>
              <a:rPr b="1" sz="1600">
                <a:solidFill>
                  <a:srgbClr val="F7FAFC"/>
                </a:solidFill>
                <a:latin typeface="Segoe UI Semibold"/>
              </a:rPr>
              <a:t>Hosted Skill</a:t>
            </a:r>
          </a:p>
          <a:p>
            <a:r>
              <a:rPr sz="1100">
                <a:solidFill>
                  <a:srgbClr val="CDEEFF"/>
                </a:solidFill>
                <a:latin typeface="Segoe UI"/>
              </a:rPr>
              <a:t>HTTP + streaming</a:t>
            </a:r>
          </a:p>
        </p:txBody>
      </p:sp>
      <p:sp>
        <p:nvSpPr>
          <p:cNvPr id="13" name="Shape 13"/>
          <p:cNvSpPr/>
          <p:nvPr/>
        </p:nvSpPr>
        <p:spPr>
          <a:xfrm>
            <a:off x="2350000" y="3430000"/>
            <a:ext cx="1730000" cy="920000"/>
          </a:xfrm>
          <a:prstGeom prst="roundRect">
            <a:avLst/>
          </a:prstGeom>
          <a:solidFill>
            <a:srgbClr val="203451"/>
          </a:solidFill>
        </p:spPr>
        <p:txBody>
          <a:bodyPr rtlCol="0" anchor="ctr"/>
          <a:lstStyle/>
          <a:p/>
        </p:txBody>
      </p:sp>
      <p:sp>
        <p:nvSpPr>
          <p:cNvPr id="14" name="TextBox 14"/>
          <p:cNvSpPr txBox="1"/>
          <p:nvPr/>
        </p:nvSpPr>
        <p:spPr>
          <a:xfrm>
            <a:off x="2530000" y="3650000"/>
            <a:ext cx="1370000" cy="430000"/>
          </a:xfrm>
          <a:prstGeom prst="rect">
            <a:avLst/>
          </a:prstGeom>
        </p:spPr>
        <p:txBody>
          <a:bodyPr wrap="square" rtlCol="0">
            <a:spAutoFit/>
          </a:bodyPr>
          <a:lstStyle/>
          <a:p>
            <a:r>
              <a:rPr b="1" sz="1600">
                <a:solidFill>
                  <a:srgbClr val="F7FAFC"/>
                </a:solidFill>
                <a:latin typeface="Segoe UI Semibold"/>
              </a:rPr>
              <a:t>MAF model loop</a:t>
            </a:r>
          </a:p>
          <a:p>
            <a:r>
              <a:rPr sz="1100">
                <a:solidFill>
                  <a:srgbClr val="B8C7DC"/>
                </a:solidFill>
                <a:latin typeface="Segoe UI"/>
              </a:rPr>
              <a:t>Tool middleware</a:t>
            </a:r>
          </a:p>
        </p:txBody>
      </p:sp>
      <p:sp>
        <p:nvSpPr>
          <p:cNvPr id="15" name="TextBox 15"/>
          <p:cNvSpPr txBox="1"/>
          <p:nvPr/>
        </p:nvSpPr>
        <p:spPr>
          <a:xfrm>
            <a:off x="2420000" y="4870000"/>
            <a:ext cx="1600000" cy="530000"/>
          </a:xfrm>
          <a:prstGeom prst="rect">
            <a:avLst/>
          </a:prstGeom>
        </p:spPr>
        <p:txBody>
          <a:bodyPr wrap="square" rtlCol="0">
            <a:spAutoFit/>
          </a:bodyPr>
          <a:lstStyle/>
          <a:p>
            <a:r>
              <a:rPr b="1" sz="1100">
                <a:solidFill>
                  <a:srgbClr val="9DE6C8"/>
                </a:solidFill>
                <a:latin typeface="Segoe UI"/>
              </a:rPr>
              <a:t>Credentials stay here.</a:t>
            </a:r>
          </a:p>
          <a:p>
            <a:r>
              <a:rPr sz="1100">
                <a:solidFill>
                  <a:srgbClr val="9DE6C8"/>
                </a:solidFill>
                <a:latin typeface="Segoe UI"/>
              </a:rPr>
              <a:t>Customer tool modules do not.</a:t>
            </a:r>
          </a:p>
        </p:txBody>
      </p:sp>
      <p:sp>
        <p:nvSpPr>
          <p:cNvPr id="16" name="Shape 16"/>
          <p:cNvSpPr/>
          <p:nvPr/>
        </p:nvSpPr>
        <p:spPr>
          <a:xfrm>
            <a:off x="4380000" y="2470000"/>
            <a:ext cx="430000" cy="330000"/>
          </a:xfrm>
          <a:prstGeom prst="rightArrow">
            <a:avLst/>
          </a:prstGeom>
          <a:solidFill>
            <a:srgbClr val="287FD1"/>
          </a:solidFill>
        </p:spPr>
        <p:txBody>
          <a:bodyPr rtlCol="0" anchor="ctr"/>
          <a:lstStyle/>
          <a:p/>
        </p:txBody>
      </p:sp>
      <p:sp>
        <p:nvSpPr>
          <p:cNvPr id="17" name="Shape 17"/>
          <p:cNvSpPr/>
          <p:nvPr/>
        </p:nvSpPr>
        <p:spPr>
          <a:xfrm>
            <a:off x="4900000" y="1450000"/>
            <a:ext cx="1500000" cy="2220000"/>
          </a:xfrm>
          <a:prstGeom prst="roundRect">
            <a:avLst/>
          </a:prstGeom>
          <a:solidFill>
            <a:srgbClr val="0E4B78"/>
          </a:solidFill>
        </p:spPr>
        <p:txBody>
          <a:bodyPr rtlCol="0" anchor="ctr"/>
          <a:lstStyle/>
          <a:p/>
        </p:txBody>
      </p:sp>
      <p:sp>
        <p:nvSpPr>
          <p:cNvPr id="18" name="TextBox 18"/>
          <p:cNvSpPr txBox="1"/>
          <p:nvPr/>
        </p:nvSpPr>
        <p:spPr>
          <a:xfrm>
            <a:off x="5100000" y="1690000"/>
            <a:ext cx="1100000" cy="320000"/>
          </a:xfrm>
          <a:prstGeom prst="rect">
            <a:avLst/>
          </a:prstGeom>
        </p:spPr>
        <p:txBody>
          <a:bodyPr wrap="square" rtlCol="0">
            <a:spAutoFit/>
          </a:bodyPr>
          <a:lstStyle/>
          <a:p>
            <a:r>
              <a:rPr b="1" sz="2000">
                <a:solidFill>
                  <a:srgbClr val="F7FAFC"/>
                </a:solidFill>
                <a:latin typeface="Segoe UI Semibold"/>
              </a:rPr>
              <a:t>APIM</a:t>
            </a:r>
          </a:p>
        </p:txBody>
      </p:sp>
      <p:sp>
        <p:nvSpPr>
          <p:cNvPr id="19" name="TextBox 19"/>
          <p:cNvSpPr txBox="1"/>
          <p:nvPr/>
        </p:nvSpPr>
        <p:spPr>
          <a:xfrm>
            <a:off x="5080000" y="2250000"/>
            <a:ext cx="1140000" cy="820000"/>
          </a:xfrm>
          <a:prstGeom prst="rect">
            <a:avLst/>
          </a:prstGeom>
        </p:spPr>
        <p:txBody>
          <a:bodyPr wrap="square" rtlCol="0">
            <a:spAutoFit/>
          </a:bodyPr>
          <a:lstStyle/>
          <a:p>
            <a:r>
              <a:rPr b="1" sz="1200">
                <a:solidFill>
                  <a:srgbClr val="D8F1FF"/>
                </a:solidFill>
                <a:latin typeface="Segoe UI"/>
              </a:rPr>
              <a:t>AI Gateway</a:t>
            </a:r>
          </a:p>
          <a:p>
            <a:r>
              <a:rPr sz="1100">
                <a:solidFill>
                  <a:srgbClr val="B7E7FF"/>
                </a:solidFill>
                <a:latin typeface="Segoe UI"/>
              </a:rPr>
              <a:t>Foundry model API</a:t>
            </a:r>
          </a:p>
          <a:p>
            <a:r>
              <a:rPr sz="1100">
                <a:solidFill>
                  <a:srgbClr val="B7E7FF"/>
                </a:solidFill>
                <a:latin typeface="Segoe UI"/>
              </a:rPr>
              <a:t>Remote MCP API</a:t>
            </a:r>
          </a:p>
          <a:p>
            <a:r>
              <a:rPr sz="1100">
                <a:solidFill>
                  <a:srgbClr val="B7E7FF"/>
                </a:solidFill>
                <a:latin typeface="Segoe UI"/>
              </a:rPr>
              <a:t>W3C correlation</a:t>
            </a:r>
          </a:p>
        </p:txBody>
      </p:sp>
      <p:sp>
        <p:nvSpPr>
          <p:cNvPr id="20" name="Shape 20"/>
          <p:cNvSpPr/>
          <p:nvPr/>
        </p:nvSpPr>
        <p:spPr>
          <a:xfrm>
            <a:off x="6420000" y="2470000"/>
            <a:ext cx="420000" cy="330000"/>
          </a:xfrm>
          <a:prstGeom prst="rightArrow">
            <a:avLst/>
          </a:prstGeom>
          <a:solidFill>
            <a:srgbClr val="287FD1"/>
          </a:solidFill>
        </p:spPr>
        <p:txBody>
          <a:bodyPr rtlCol="0" anchor="ctr"/>
          <a:lstStyle/>
          <a:p/>
        </p:txBody>
      </p:sp>
      <p:sp>
        <p:nvSpPr>
          <p:cNvPr id="21" name="Shape 21"/>
          <p:cNvSpPr/>
          <p:nvPr/>
        </p:nvSpPr>
        <p:spPr>
          <a:xfrm>
            <a:off x="6900000" y="1450000"/>
            <a:ext cx="1850000" cy="950000"/>
          </a:xfrm>
          <a:prstGeom prst="roundRect">
            <a:avLst/>
          </a:prstGeom>
          <a:solidFill>
            <a:srgbClr val="31275A"/>
          </a:solidFill>
        </p:spPr>
        <p:txBody>
          <a:bodyPr rtlCol="0" anchor="ctr"/>
          <a:lstStyle/>
          <a:p/>
        </p:txBody>
      </p:sp>
      <p:sp>
        <p:nvSpPr>
          <p:cNvPr id="22" name="TextBox 22"/>
          <p:cNvSpPr txBox="1"/>
          <p:nvPr/>
        </p:nvSpPr>
        <p:spPr>
          <a:xfrm>
            <a:off x="7120000" y="1690000"/>
            <a:ext cx="1420000" cy="430000"/>
          </a:xfrm>
          <a:prstGeom prst="rect">
            <a:avLst/>
          </a:prstGeom>
        </p:spPr>
        <p:txBody>
          <a:bodyPr wrap="square" rtlCol="0">
            <a:spAutoFit/>
          </a:bodyPr>
          <a:lstStyle/>
          <a:p>
            <a:r>
              <a:rPr b="1" sz="1500">
                <a:solidFill>
                  <a:srgbClr val="F7FAFC"/>
                </a:solidFill>
                <a:latin typeface="Segoe UI Semibold"/>
              </a:rPr>
              <a:t>Azure AI Foundry</a:t>
            </a:r>
          </a:p>
          <a:p>
            <a:r>
              <a:rPr sz="1100">
                <a:solidFill>
                  <a:srgbClr val="D6CCFF"/>
                </a:solidFill>
                <a:latin typeface="Segoe UI"/>
              </a:rPr>
              <a:t>gpt-4.1-mini</a:t>
            </a:r>
          </a:p>
        </p:txBody>
      </p:sp>
      <p:sp>
        <p:nvSpPr>
          <p:cNvPr id="23" name="Shape 23"/>
          <p:cNvSpPr/>
          <p:nvPr/>
        </p:nvSpPr>
        <p:spPr>
          <a:xfrm>
            <a:off x="6900000" y="2720000"/>
            <a:ext cx="1850000" cy="950000"/>
          </a:xfrm>
          <a:prstGeom prst="roundRect">
            <a:avLst/>
          </a:prstGeom>
          <a:solidFill>
            <a:srgbClr val="21354B"/>
          </a:solidFill>
        </p:spPr>
        <p:txBody>
          <a:bodyPr rtlCol="0" anchor="ctr"/>
          <a:lstStyle/>
          <a:p/>
        </p:txBody>
      </p:sp>
      <p:sp>
        <p:nvSpPr>
          <p:cNvPr id="24" name="TextBox 24"/>
          <p:cNvSpPr txBox="1"/>
          <p:nvPr/>
        </p:nvSpPr>
        <p:spPr>
          <a:xfrm>
            <a:off x="7120000" y="2960000"/>
            <a:ext cx="1420000" cy="430000"/>
          </a:xfrm>
          <a:prstGeom prst="rect">
            <a:avLst/>
          </a:prstGeom>
        </p:spPr>
        <p:txBody>
          <a:bodyPr wrap="square" rtlCol="0">
            <a:spAutoFit/>
          </a:bodyPr>
          <a:lstStyle/>
          <a:p>
            <a:r>
              <a:rPr b="1" sz="1500">
                <a:solidFill>
                  <a:srgbClr val="F7FAFC"/>
                </a:solidFill>
                <a:latin typeface="Segoe UI Semibold"/>
              </a:rPr>
              <a:t>Remote MCP</a:t>
            </a:r>
          </a:p>
          <a:p>
            <a:r>
              <a:rPr sz="1100">
                <a:solidFill>
                  <a:srgbClr val="C7D8E8"/>
                </a:solidFill>
                <a:latin typeface="Segoe UI"/>
              </a:rPr>
              <a:t>Microsoft Learn</a:t>
            </a:r>
          </a:p>
        </p:txBody>
      </p:sp>
      <p:sp>
        <p:nvSpPr>
          <p:cNvPr id="25" name="Shape 25"/>
          <p:cNvSpPr/>
          <p:nvPr/>
        </p:nvSpPr>
        <p:spPr>
          <a:xfrm>
            <a:off x="3850000" y="4250000"/>
            <a:ext cx="360000" cy="470000"/>
          </a:xfrm>
          <a:prstGeom prst="downArrow">
            <a:avLst/>
          </a:prstGeom>
          <a:solidFill>
            <a:srgbClr val="6CCB5F"/>
          </a:solidFill>
        </p:spPr>
        <p:txBody>
          <a:bodyPr rtlCol="0" anchor="ctr"/>
          <a:lstStyle/>
          <a:p/>
        </p:txBody>
      </p:sp>
      <p:sp>
        <p:nvSpPr>
          <p:cNvPr id="26" name="Shape 26"/>
          <p:cNvSpPr/>
          <p:nvPr/>
        </p:nvSpPr>
        <p:spPr>
          <a:xfrm>
            <a:off x="4700000" y="4150000"/>
            <a:ext cx="4050000" cy="1610000"/>
          </a:xfrm>
          <a:prstGeom prst="roundRect">
            <a:avLst/>
          </a:prstGeom>
          <a:solidFill>
            <a:srgbClr val="12342E"/>
          </a:solidFill>
        </p:spPr>
        <p:txBody>
          <a:bodyPr rtlCol="0" anchor="ctr"/>
          <a:lstStyle/>
          <a:p/>
        </p:txBody>
      </p:sp>
      <p:sp>
        <p:nvSpPr>
          <p:cNvPr id="27" name="TextBox 27"/>
          <p:cNvSpPr txBox="1"/>
          <p:nvPr/>
        </p:nvSpPr>
        <p:spPr>
          <a:xfrm>
            <a:off x="4940000" y="4380000"/>
            <a:ext cx="1900000" cy="330000"/>
          </a:xfrm>
          <a:prstGeom prst="rect">
            <a:avLst/>
          </a:prstGeom>
        </p:spPr>
        <p:txBody>
          <a:bodyPr wrap="square" rtlCol="0">
            <a:spAutoFit/>
          </a:bodyPr>
          <a:lstStyle/>
          <a:p>
            <a:r>
              <a:rPr b="1" sz="1100" spc="70">
                <a:solidFill>
                  <a:srgbClr val="80E1BB"/>
                </a:solidFill>
                <a:latin typeface="Segoe UI"/>
              </a:rPr>
              <a:t>CUSTOMER ACA SANDBOX GROUP</a:t>
            </a:r>
          </a:p>
        </p:txBody>
      </p:sp>
      <p:sp>
        <p:nvSpPr>
          <p:cNvPr id="28" name="Shape 28"/>
          <p:cNvSpPr/>
          <p:nvPr/>
        </p:nvSpPr>
        <p:spPr>
          <a:xfrm>
            <a:off x="4950000" y="4870000"/>
            <a:ext cx="1500000" cy="650000"/>
          </a:xfrm>
          <a:prstGeom prst="roundRect">
            <a:avLst/>
          </a:prstGeom>
          <a:solidFill>
            <a:srgbClr val="1A5549"/>
          </a:solidFill>
        </p:spPr>
        <p:txBody>
          <a:bodyPr rtlCol="0" anchor="ctr"/>
          <a:lstStyle/>
          <a:p/>
        </p:txBody>
      </p:sp>
      <p:sp>
        <p:nvSpPr>
          <p:cNvPr id="29" name="TextBox 29"/>
          <p:cNvSpPr txBox="1"/>
          <p:nvPr/>
        </p:nvSpPr>
        <p:spPr>
          <a:xfrm>
            <a:off x="5140000" y="5030000"/>
            <a:ext cx="1150000" cy="280000"/>
          </a:xfrm>
          <a:prstGeom prst="rect">
            <a:avLst/>
          </a:prstGeom>
        </p:spPr>
        <p:txBody>
          <a:bodyPr wrap="square" rtlCol="0">
            <a:spAutoFit/>
          </a:bodyPr>
          <a:lstStyle/>
          <a:p>
            <a:r>
              <a:rPr b="1" sz="1400">
                <a:solidFill>
                  <a:srgbClr val="F7FAFC"/>
                </a:solidFill>
                <a:latin typeface="Segoe UI Semibold"/>
              </a:rPr>
              <a:t>Fresh sandbox</a:t>
            </a:r>
          </a:p>
        </p:txBody>
      </p:sp>
      <p:sp>
        <p:nvSpPr>
          <p:cNvPr id="30" name="TextBox 30"/>
          <p:cNvSpPr txBox="1"/>
          <p:nvPr/>
        </p:nvSpPr>
        <p:spPr>
          <a:xfrm>
            <a:off x="6750000" y="4740000"/>
            <a:ext cx="1700000" cy="700000"/>
          </a:xfrm>
          <a:prstGeom prst="rect">
            <a:avLst/>
          </a:prstGeom>
        </p:spPr>
        <p:txBody>
          <a:bodyPr wrap="square" rtlCol="0">
            <a:spAutoFit/>
          </a:bodyPr>
          <a:lstStyle/>
          <a:p>
            <a:r>
              <a:rPr b="1" sz="1200">
                <a:solidFill>
                  <a:srgbClr val="D0EEE2"/>
                </a:solidFill>
                <a:latin typeface="Segoe UI"/>
              </a:rPr>
              <a:t>customer_probe.py</a:t>
            </a:r>
          </a:p>
          <a:p>
            <a:r>
              <a:rPr sz="1100">
                <a:solidFill>
                  <a:srgbClr val="A9DBC8"/>
                </a:solidFill>
                <a:latin typeface="Segoe UI"/>
              </a:rPr>
              <a:t>shell | files | search</a:t>
            </a:r>
          </a:p>
          <a:p>
            <a:r>
              <a:rPr sz="1100">
                <a:solidFill>
                  <a:srgbClr val="A9DBC8"/>
                </a:solidFill>
                <a:latin typeface="Segoe UI"/>
              </a:rPr>
              <a:t>Customer UAMI + egress</a:t>
            </a:r>
          </a:p>
        </p:txBody>
      </p:sp>
      <p:sp>
        <p:nvSpPr>
          <p:cNvPr id="31" name="TextBox 31"/>
          <p:cNvSpPr txBox="1"/>
          <p:nvPr/>
        </p:nvSpPr>
        <p:spPr>
          <a:xfrm>
            <a:off x="520000" y="6340000"/>
            <a:ext cx="8200000" cy="190000"/>
          </a:xfrm>
          <a:prstGeom prst="rect">
            <a:avLst/>
          </a:prstGeom>
        </p:spPr>
        <p:txBody>
          <a:bodyPr wrap="square" rtlCol="0">
            <a:spAutoFit/>
          </a:bodyPr>
          <a:lstStyle/>
          <a:p>
            <a:r>
              <a:rPr sz="1000">
                <a:solidFill>
                  <a:srgbClr val="71839B"/>
                </a:solidFill>
                <a:latin typeface="Segoe UI"/>
              </a:rPr>
              <a:t>Local executable tools are intercepted by exact stub identity; remote MCP stays on the worker-side pipeline.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6CCB5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One fresh sandbox, one bounded invocation</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80E1BB"/>
                </a:solidFill>
                <a:latin typeface="Segoe UI"/>
              </a:rPr>
              <a:t>MEASURED CRITICAL PATH  |  OPTIMIZED LIVE QUALIFICATION</a:t>
            </a:r>
          </a:p>
        </p:txBody>
      </p:sp>
      <p:sp>
        <p:nvSpPr>
          <p:cNvPr id="6" name="Shape 6"/>
          <p:cNvSpPr/>
          <p:nvPr/>
        </p:nvSpPr>
        <p:spPr>
          <a:xfrm>
            <a:off x="430000" y="1620000"/>
            <a:ext cx="1510000" cy="2580000"/>
          </a:xfrm>
          <a:prstGeom prst="roundRect">
            <a:avLst/>
          </a:prstGeom>
          <a:solidFill>
            <a:srgbClr val="152942"/>
          </a:solidFill>
        </p:spPr>
        <p:txBody>
          <a:bodyPr rtlCol="0" anchor="ctr"/>
          <a:lstStyle/>
          <a:p/>
        </p:txBody>
      </p:sp>
      <p:sp>
        <p:nvSpPr>
          <p:cNvPr id="7" name="TextBox 7"/>
          <p:cNvSpPr txBox="1"/>
          <p:nvPr/>
        </p:nvSpPr>
        <p:spPr>
          <a:xfrm>
            <a:off x="630000" y="1830000"/>
            <a:ext cx="280000" cy="300000"/>
          </a:xfrm>
          <a:prstGeom prst="rect">
            <a:avLst/>
          </a:prstGeom>
        </p:spPr>
        <p:txBody>
          <a:bodyPr wrap="square" rtlCol="0">
            <a:spAutoFit/>
          </a:bodyPr>
          <a:lstStyle/>
          <a:p>
            <a:r>
              <a:rPr b="1" sz="2000">
                <a:solidFill>
                  <a:srgbClr val="50E6FF"/>
                </a:solidFill>
                <a:latin typeface="Segoe UI Semibold"/>
              </a:rPr>
              <a:t>01</a:t>
            </a:r>
          </a:p>
        </p:txBody>
      </p:sp>
      <p:sp>
        <p:nvSpPr>
          <p:cNvPr id="8" name="TextBox 8"/>
          <p:cNvSpPr txBox="1"/>
          <p:nvPr/>
        </p:nvSpPr>
        <p:spPr>
          <a:xfrm>
            <a:off x="630000" y="2280000"/>
            <a:ext cx="1080000" cy="360000"/>
          </a:xfrm>
          <a:prstGeom prst="rect">
            <a:avLst/>
          </a:prstGeom>
        </p:spPr>
        <p:txBody>
          <a:bodyPr wrap="square" rtlCol="0">
            <a:spAutoFit/>
          </a:bodyPr>
          <a:lstStyle/>
          <a:p>
            <a:r>
              <a:rPr b="1" sz="1600">
                <a:solidFill>
                  <a:srgbClr val="F7FAFC"/>
                </a:solidFill>
                <a:latin typeface="Segoe UI Semibold"/>
              </a:rPr>
              <a:t>CREATE</a:t>
            </a:r>
          </a:p>
        </p:txBody>
      </p:sp>
      <p:sp>
        <p:nvSpPr>
          <p:cNvPr id="9" name="TextBox 9"/>
          <p:cNvSpPr txBox="1"/>
          <p:nvPr/>
        </p:nvSpPr>
        <p:spPr>
          <a:xfrm>
            <a:off x="630000" y="2780000"/>
            <a:ext cx="1080000" cy="760000"/>
          </a:xfrm>
          <a:prstGeom prst="rect">
            <a:avLst/>
          </a:prstGeom>
        </p:spPr>
        <p:txBody>
          <a:bodyPr wrap="square" rtlCol="0">
            <a:spAutoFit/>
          </a:bodyPr>
          <a:lstStyle/>
          <a:p>
            <a:r>
              <a:rPr sz="1200">
                <a:solidFill>
                  <a:srgbClr val="B8C7DC"/>
                </a:solidFill>
                <a:latin typeface="Segoe UI"/>
              </a:rPr>
              <a:t>Fresh sandbox</a:t>
            </a:r>
          </a:p>
          <a:p>
            <a:r>
              <a:rPr sz="1200">
                <a:solidFill>
                  <a:srgbClr val="B8C7DC"/>
                </a:solidFill>
                <a:latin typeface="Segoe UI"/>
              </a:rPr>
              <a:t>No public ingress</a:t>
            </a:r>
          </a:p>
          <a:p>
            <a:r>
              <a:rPr sz="1200">
                <a:solidFill>
                  <a:srgbClr val="B8C7DC"/>
                </a:solidFill>
                <a:latin typeface="Segoe UI"/>
              </a:rPr>
              <a:t>Customer policy</a:t>
            </a:r>
          </a:p>
        </p:txBody>
      </p:sp>
      <p:sp>
        <p:nvSpPr>
          <p:cNvPr id="10" name="TextBox 10"/>
          <p:cNvSpPr txBox="1"/>
          <p:nvPr/>
        </p:nvSpPr>
        <p:spPr>
          <a:xfrm>
            <a:off x="630000" y="3610000"/>
            <a:ext cx="1080000" cy="280000"/>
          </a:xfrm>
          <a:prstGeom prst="rect">
            <a:avLst/>
          </a:prstGeom>
        </p:spPr>
        <p:txBody>
          <a:bodyPr wrap="square" rtlCol="0">
            <a:spAutoFit/>
          </a:bodyPr>
          <a:lstStyle/>
          <a:p>
            <a:r>
              <a:rPr b="1" sz="1400">
                <a:solidFill>
                  <a:srgbClr val="66C7FF"/>
                </a:solidFill>
                <a:latin typeface="Segoe UI Semibold"/>
              </a:rPr>
              <a:t>3.01s avg</a:t>
            </a:r>
          </a:p>
        </p:txBody>
      </p:sp>
      <p:sp>
        <p:nvSpPr>
          <p:cNvPr id="11" name="Shape 11"/>
          <p:cNvSpPr/>
          <p:nvPr/>
        </p:nvSpPr>
        <p:spPr>
          <a:xfrm>
            <a:off x="2090000" y="1620000"/>
            <a:ext cx="1510000" cy="2580000"/>
          </a:xfrm>
          <a:prstGeom prst="roundRect">
            <a:avLst/>
          </a:prstGeom>
          <a:solidFill>
            <a:srgbClr val="162C3C"/>
          </a:solidFill>
        </p:spPr>
        <p:txBody>
          <a:bodyPr rtlCol="0" anchor="ctr"/>
          <a:lstStyle/>
          <a:p/>
        </p:txBody>
      </p:sp>
      <p:sp>
        <p:nvSpPr>
          <p:cNvPr id="12" name="TextBox 12"/>
          <p:cNvSpPr txBox="1"/>
          <p:nvPr/>
        </p:nvSpPr>
        <p:spPr>
          <a:xfrm>
            <a:off x="2290000" y="1830000"/>
            <a:ext cx="280000" cy="300000"/>
          </a:xfrm>
          <a:prstGeom prst="rect">
            <a:avLst/>
          </a:prstGeom>
        </p:spPr>
        <p:txBody>
          <a:bodyPr wrap="square" rtlCol="0">
            <a:spAutoFit/>
          </a:bodyPr>
          <a:lstStyle/>
          <a:p>
            <a:r>
              <a:rPr b="1" sz="2000">
                <a:solidFill>
                  <a:srgbClr val="50E6FF"/>
                </a:solidFill>
                <a:latin typeface="Segoe UI Semibold"/>
              </a:rPr>
              <a:t>02</a:t>
            </a:r>
          </a:p>
        </p:txBody>
      </p:sp>
      <p:sp>
        <p:nvSpPr>
          <p:cNvPr id="13" name="TextBox 13"/>
          <p:cNvSpPr txBox="1"/>
          <p:nvPr/>
        </p:nvSpPr>
        <p:spPr>
          <a:xfrm>
            <a:off x="2290000" y="2280000"/>
            <a:ext cx="1080000" cy="360000"/>
          </a:xfrm>
          <a:prstGeom prst="rect">
            <a:avLst/>
          </a:prstGeom>
        </p:spPr>
        <p:txBody>
          <a:bodyPr wrap="square" rtlCol="0">
            <a:spAutoFit/>
          </a:bodyPr>
          <a:lstStyle/>
          <a:p>
            <a:r>
              <a:rPr b="1" sz="1600">
                <a:solidFill>
                  <a:srgbClr val="F7FAFC"/>
                </a:solidFill>
                <a:latin typeface="Segoe UI Semibold"/>
              </a:rPr>
              <a:t>PACKAGE</a:t>
            </a:r>
          </a:p>
        </p:txBody>
      </p:sp>
      <p:sp>
        <p:nvSpPr>
          <p:cNvPr id="14" name="TextBox 14"/>
          <p:cNvSpPr txBox="1"/>
          <p:nvPr/>
        </p:nvSpPr>
        <p:spPr>
          <a:xfrm>
            <a:off x="2290000" y="2780000"/>
            <a:ext cx="1080000" cy="760000"/>
          </a:xfrm>
          <a:prstGeom prst="rect">
            <a:avLst/>
          </a:prstGeom>
        </p:spPr>
        <p:txBody>
          <a:bodyPr wrap="square" rtlCol="0">
            <a:spAutoFit/>
          </a:bodyPr>
          <a:lstStyle/>
          <a:p>
            <a:r>
              <a:rPr sz="1200">
                <a:solidFill>
                  <a:srgbClr val="B8C7DC"/>
                </a:solidFill>
                <a:latin typeface="Segoe UI"/>
              </a:rPr>
              <a:t>Thin tool bundle</a:t>
            </a:r>
          </a:p>
          <a:p>
            <a:r>
              <a:rPr sz="1200">
                <a:solidFill>
                  <a:srgbClr val="B8C7DC"/>
                </a:solidFill>
                <a:latin typeface="Segoe UI"/>
              </a:rPr>
              <a:t>Upload once</a:t>
            </a:r>
          </a:p>
          <a:p>
            <a:r>
              <a:rPr sz="1200">
                <a:solidFill>
                  <a:srgbClr val="B8C7DC"/>
                </a:solidFill>
                <a:latin typeface="Segoe UI"/>
              </a:rPr>
              <a:t>No readback</a:t>
            </a:r>
          </a:p>
        </p:txBody>
      </p:sp>
      <p:sp>
        <p:nvSpPr>
          <p:cNvPr id="15" name="TextBox 15"/>
          <p:cNvSpPr txBox="1"/>
          <p:nvPr/>
        </p:nvSpPr>
        <p:spPr>
          <a:xfrm>
            <a:off x="2290000" y="3610000"/>
            <a:ext cx="1080000" cy="280000"/>
          </a:xfrm>
          <a:prstGeom prst="rect">
            <a:avLst/>
          </a:prstGeom>
        </p:spPr>
        <p:txBody>
          <a:bodyPr wrap="square" rtlCol="0">
            <a:spAutoFit/>
          </a:bodyPr>
          <a:lstStyle/>
          <a:p>
            <a:r>
              <a:rPr b="1" sz="1400">
                <a:solidFill>
                  <a:srgbClr val="80E1BB"/>
                </a:solidFill>
                <a:latin typeface="Segoe UI Semibold"/>
              </a:rPr>
              <a:t>135ms avg</a:t>
            </a:r>
          </a:p>
        </p:txBody>
      </p:sp>
      <p:sp>
        <p:nvSpPr>
          <p:cNvPr id="16" name="Shape 16"/>
          <p:cNvSpPr/>
          <p:nvPr/>
        </p:nvSpPr>
        <p:spPr>
          <a:xfrm>
            <a:off x="3750000" y="1620000"/>
            <a:ext cx="1510000" cy="2580000"/>
          </a:xfrm>
          <a:prstGeom prst="roundRect">
            <a:avLst/>
          </a:prstGeom>
          <a:solidFill>
            <a:srgbClr val="18302F"/>
          </a:solidFill>
        </p:spPr>
        <p:txBody>
          <a:bodyPr rtlCol="0" anchor="ctr"/>
          <a:lstStyle/>
          <a:p/>
        </p:txBody>
      </p:sp>
      <p:sp>
        <p:nvSpPr>
          <p:cNvPr id="17" name="TextBox 17"/>
          <p:cNvSpPr txBox="1"/>
          <p:nvPr/>
        </p:nvSpPr>
        <p:spPr>
          <a:xfrm>
            <a:off x="3950000" y="1830000"/>
            <a:ext cx="280000" cy="300000"/>
          </a:xfrm>
          <a:prstGeom prst="rect">
            <a:avLst/>
          </a:prstGeom>
        </p:spPr>
        <p:txBody>
          <a:bodyPr wrap="square" rtlCol="0">
            <a:spAutoFit/>
          </a:bodyPr>
          <a:lstStyle/>
          <a:p>
            <a:r>
              <a:rPr b="1" sz="2000">
                <a:solidFill>
                  <a:srgbClr val="80E1BB"/>
                </a:solidFill>
                <a:latin typeface="Segoe UI Semibold"/>
              </a:rPr>
              <a:t>03</a:t>
            </a:r>
          </a:p>
        </p:txBody>
      </p:sp>
      <p:sp>
        <p:nvSpPr>
          <p:cNvPr id="18" name="TextBox 18"/>
          <p:cNvSpPr txBox="1"/>
          <p:nvPr/>
        </p:nvSpPr>
        <p:spPr>
          <a:xfrm>
            <a:off x="3950000" y="2280000"/>
            <a:ext cx="1080000" cy="360000"/>
          </a:xfrm>
          <a:prstGeom prst="rect">
            <a:avLst/>
          </a:prstGeom>
        </p:spPr>
        <p:txBody>
          <a:bodyPr wrap="square" rtlCol="0">
            <a:spAutoFit/>
          </a:bodyPr>
          <a:lstStyle/>
          <a:p>
            <a:r>
              <a:rPr b="1" sz="1400">
                <a:solidFill>
                  <a:srgbClr val="F7FAFC"/>
                </a:solidFill>
                <a:latin typeface="Segoe UI Semibold"/>
              </a:rPr>
              <a:t>VERIFY + READY</a:t>
            </a:r>
          </a:p>
        </p:txBody>
      </p:sp>
      <p:sp>
        <p:nvSpPr>
          <p:cNvPr id="19" name="TextBox 19"/>
          <p:cNvSpPr txBox="1"/>
          <p:nvPr/>
        </p:nvSpPr>
        <p:spPr>
          <a:xfrm>
            <a:off x="3950000" y="2780000"/>
            <a:ext cx="1080000" cy="760000"/>
          </a:xfrm>
          <a:prstGeom prst="rect">
            <a:avLst/>
          </a:prstGeom>
        </p:spPr>
        <p:txBody>
          <a:bodyPr wrap="square" rtlCol="0">
            <a:spAutoFit/>
          </a:bodyPr>
          <a:lstStyle/>
          <a:p>
            <a:r>
              <a:rPr sz="1200">
                <a:solidFill>
                  <a:srgbClr val="B8C7DC"/>
                </a:solidFill>
                <a:latin typeface="Segoe UI"/>
              </a:rPr>
              <a:t>SHA-256 in sandbox</a:t>
            </a:r>
          </a:p>
          <a:p>
            <a:r>
              <a:rPr sz="1200">
                <a:solidFill>
                  <a:srgbClr val="B8C7DC"/>
                </a:solidFill>
                <a:latin typeface="Segoe UI"/>
              </a:rPr>
              <a:t>Extract + start</a:t>
            </a:r>
          </a:p>
          <a:p>
            <a:r>
              <a:rPr sz="1200">
                <a:solidFill>
                  <a:srgbClr val="B8C7DC"/>
                </a:solidFill>
                <a:latin typeface="Segoe UI"/>
              </a:rPr>
              <a:t>Publish manifest</a:t>
            </a:r>
          </a:p>
        </p:txBody>
      </p:sp>
      <p:sp>
        <p:nvSpPr>
          <p:cNvPr id="20" name="TextBox 20"/>
          <p:cNvSpPr txBox="1"/>
          <p:nvPr/>
        </p:nvSpPr>
        <p:spPr>
          <a:xfrm>
            <a:off x="3950000" y="3610000"/>
            <a:ext cx="1080000" cy="280000"/>
          </a:xfrm>
          <a:prstGeom prst="rect">
            <a:avLst/>
          </a:prstGeom>
        </p:spPr>
        <p:txBody>
          <a:bodyPr wrap="square" rtlCol="0">
            <a:spAutoFit/>
          </a:bodyPr>
          <a:lstStyle/>
          <a:p>
            <a:r>
              <a:rPr b="1" sz="1400">
                <a:solidFill>
                  <a:srgbClr val="80E1BB"/>
                </a:solidFill>
                <a:latin typeface="Segoe UI Semibold"/>
              </a:rPr>
              <a:t>333ms avg</a:t>
            </a:r>
          </a:p>
        </p:txBody>
      </p:sp>
      <p:sp>
        <p:nvSpPr>
          <p:cNvPr id="21" name="Shape 21"/>
          <p:cNvSpPr/>
          <p:nvPr/>
        </p:nvSpPr>
        <p:spPr>
          <a:xfrm>
            <a:off x="5410000" y="1620000"/>
            <a:ext cx="1510000" cy="2580000"/>
          </a:xfrm>
          <a:prstGeom prst="roundRect">
            <a:avLst/>
          </a:prstGeom>
          <a:solidFill>
            <a:srgbClr val="24233F"/>
          </a:solidFill>
        </p:spPr>
        <p:txBody>
          <a:bodyPr rtlCol="0" anchor="ctr"/>
          <a:lstStyle/>
          <a:p/>
        </p:txBody>
      </p:sp>
      <p:sp>
        <p:nvSpPr>
          <p:cNvPr id="22" name="TextBox 22"/>
          <p:cNvSpPr txBox="1"/>
          <p:nvPr/>
        </p:nvSpPr>
        <p:spPr>
          <a:xfrm>
            <a:off x="5610000" y="1830000"/>
            <a:ext cx="280000" cy="300000"/>
          </a:xfrm>
          <a:prstGeom prst="rect">
            <a:avLst/>
          </a:prstGeom>
        </p:spPr>
        <p:txBody>
          <a:bodyPr wrap="square" rtlCol="0">
            <a:spAutoFit/>
          </a:bodyPr>
          <a:lstStyle/>
          <a:p>
            <a:r>
              <a:rPr b="1" sz="2000">
                <a:solidFill>
                  <a:srgbClr val="BFB1FF"/>
                </a:solidFill>
                <a:latin typeface="Segoe UI Semibold"/>
              </a:rPr>
              <a:t>04</a:t>
            </a:r>
          </a:p>
        </p:txBody>
      </p:sp>
      <p:sp>
        <p:nvSpPr>
          <p:cNvPr id="23" name="TextBox 23"/>
          <p:cNvSpPr txBox="1"/>
          <p:nvPr/>
        </p:nvSpPr>
        <p:spPr>
          <a:xfrm>
            <a:off x="5610000" y="2280000"/>
            <a:ext cx="1080000" cy="360000"/>
          </a:xfrm>
          <a:prstGeom prst="rect">
            <a:avLst/>
          </a:prstGeom>
        </p:spPr>
        <p:txBody>
          <a:bodyPr wrap="square" rtlCol="0">
            <a:spAutoFit/>
          </a:bodyPr>
          <a:lstStyle/>
          <a:p>
            <a:r>
              <a:rPr b="1" sz="1600">
                <a:solidFill>
                  <a:srgbClr val="F7FAFC"/>
                </a:solidFill>
                <a:latin typeface="Segoe UI Semibold"/>
              </a:rPr>
              <a:t>EXECUTE</a:t>
            </a:r>
          </a:p>
        </p:txBody>
      </p:sp>
      <p:sp>
        <p:nvSpPr>
          <p:cNvPr id="24" name="TextBox 24"/>
          <p:cNvSpPr txBox="1"/>
          <p:nvPr/>
        </p:nvSpPr>
        <p:spPr>
          <a:xfrm>
            <a:off x="5610000" y="2780000"/>
            <a:ext cx="1080000" cy="760000"/>
          </a:xfrm>
          <a:prstGeom prst="rect">
            <a:avLst/>
          </a:prstGeom>
        </p:spPr>
        <p:txBody>
          <a:bodyPr wrap="square" rtlCol="0">
            <a:spAutoFit/>
          </a:bodyPr>
          <a:lstStyle/>
          <a:p>
            <a:r>
              <a:rPr sz="1200">
                <a:solidFill>
                  <a:srgbClr val="B8C7DC"/>
                </a:solidFill>
                <a:latin typeface="Segoe UI"/>
              </a:rPr>
              <a:t>Strict call journal</a:t>
            </a:r>
          </a:p>
          <a:p>
            <a:r>
              <a:rPr sz="1200">
                <a:solidFill>
                  <a:srgbClr val="B8C7DC"/>
                </a:solidFill>
                <a:latin typeface="Segoe UI"/>
              </a:rPr>
              <a:t>Shared executor</a:t>
            </a:r>
          </a:p>
          <a:p>
            <a:r>
              <a:rPr sz="1200">
                <a:solidFill>
                  <a:srgbClr val="B8C7DC"/>
                </a:solidFill>
                <a:latin typeface="Segoe UI"/>
              </a:rPr>
              <a:t>Idempotent call_id</a:t>
            </a:r>
          </a:p>
        </p:txBody>
      </p:sp>
      <p:sp>
        <p:nvSpPr>
          <p:cNvPr id="25" name="TextBox 25"/>
          <p:cNvSpPr txBox="1"/>
          <p:nvPr/>
        </p:nvSpPr>
        <p:spPr>
          <a:xfrm>
            <a:off x="5610000" y="3610000"/>
            <a:ext cx="1080000" cy="280000"/>
          </a:xfrm>
          <a:prstGeom prst="rect">
            <a:avLst/>
          </a:prstGeom>
        </p:spPr>
        <p:txBody>
          <a:bodyPr wrap="square" rtlCol="0">
            <a:spAutoFit/>
          </a:bodyPr>
          <a:lstStyle/>
          <a:p>
            <a:r>
              <a:rPr b="1" sz="1300">
                <a:solidFill>
                  <a:srgbClr val="BFB1FF"/>
                </a:solidFill>
                <a:latin typeface="Segoe UI Semibold"/>
              </a:rPr>
              <a:t>0.30ms tool avg</a:t>
            </a:r>
          </a:p>
        </p:txBody>
      </p:sp>
      <p:sp>
        <p:nvSpPr>
          <p:cNvPr id="26" name="Shape 26"/>
          <p:cNvSpPr/>
          <p:nvPr/>
        </p:nvSpPr>
        <p:spPr>
          <a:xfrm>
            <a:off x="7070000" y="1620000"/>
            <a:ext cx="1510000" cy="2580000"/>
          </a:xfrm>
          <a:prstGeom prst="roundRect">
            <a:avLst/>
          </a:prstGeom>
          <a:solidFill>
            <a:srgbClr val="2B2B24"/>
          </a:solidFill>
        </p:spPr>
        <p:txBody>
          <a:bodyPr rtlCol="0" anchor="ctr"/>
          <a:lstStyle/>
          <a:p/>
        </p:txBody>
      </p:sp>
      <p:sp>
        <p:nvSpPr>
          <p:cNvPr id="27" name="TextBox 27"/>
          <p:cNvSpPr txBox="1"/>
          <p:nvPr/>
        </p:nvSpPr>
        <p:spPr>
          <a:xfrm>
            <a:off x="7270000" y="1830000"/>
            <a:ext cx="280000" cy="300000"/>
          </a:xfrm>
          <a:prstGeom prst="rect">
            <a:avLst/>
          </a:prstGeom>
        </p:spPr>
        <p:txBody>
          <a:bodyPr wrap="square" rtlCol="0">
            <a:spAutoFit/>
          </a:bodyPr>
          <a:lstStyle/>
          <a:p>
            <a:r>
              <a:rPr b="1" sz="2000">
                <a:solidFill>
                  <a:srgbClr val="FFDA6A"/>
                </a:solidFill>
                <a:latin typeface="Segoe UI Semibold"/>
              </a:rPr>
              <a:t>05</a:t>
            </a:r>
          </a:p>
        </p:txBody>
      </p:sp>
      <p:sp>
        <p:nvSpPr>
          <p:cNvPr id="28" name="TextBox 28"/>
          <p:cNvSpPr txBox="1"/>
          <p:nvPr/>
        </p:nvSpPr>
        <p:spPr>
          <a:xfrm>
            <a:off x="7270000" y="2280000"/>
            <a:ext cx="1080000" cy="360000"/>
          </a:xfrm>
          <a:prstGeom prst="rect">
            <a:avLst/>
          </a:prstGeom>
        </p:spPr>
        <p:txBody>
          <a:bodyPr wrap="square" rtlCol="0">
            <a:spAutoFit/>
          </a:bodyPr>
          <a:lstStyle/>
          <a:p>
            <a:r>
              <a:rPr b="1" sz="1600">
                <a:solidFill>
                  <a:srgbClr val="F7FAFC"/>
                </a:solidFill>
                <a:latin typeface="Segoe UI Semibold"/>
              </a:rPr>
              <a:t>HAND OFF</a:t>
            </a:r>
          </a:p>
        </p:txBody>
      </p:sp>
      <p:sp>
        <p:nvSpPr>
          <p:cNvPr id="29" name="TextBox 29"/>
          <p:cNvSpPr txBox="1"/>
          <p:nvPr/>
        </p:nvSpPr>
        <p:spPr>
          <a:xfrm>
            <a:off x="7270000" y="2780000"/>
            <a:ext cx="1080000" cy="760000"/>
          </a:xfrm>
          <a:prstGeom prst="rect">
            <a:avLst/>
          </a:prstGeom>
        </p:spPr>
        <p:txBody>
          <a:bodyPr wrap="square" rtlCol="0">
            <a:spAutoFit/>
          </a:bodyPr>
          <a:lstStyle/>
          <a:p>
            <a:r>
              <a:rPr sz="1200">
                <a:solidFill>
                  <a:srgbClr val="B8C7DC"/>
                </a:solidFill>
                <a:latin typeface="Segoe UI"/>
              </a:rPr>
              <a:t>Stop admissions</a:t>
            </a:r>
          </a:p>
          <a:p>
            <a:r>
              <a:rPr sz="1200">
                <a:solidFill>
                  <a:srgbClr val="B8C7DC"/>
                </a:solidFill>
                <a:latin typeface="Segoe UI"/>
              </a:rPr>
              <a:t>Shutdown marker</a:t>
            </a:r>
          </a:p>
          <a:p>
            <a:r>
              <a:rPr sz="1200">
                <a:solidFill>
                  <a:srgbClr val="B8C7DC"/>
                </a:solidFill>
                <a:latin typeface="Segoe UI"/>
              </a:rPr>
              <a:t>Delete accepted</a:t>
            </a:r>
          </a:p>
        </p:txBody>
      </p:sp>
      <p:sp>
        <p:nvSpPr>
          <p:cNvPr id="30" name="TextBox 30"/>
          <p:cNvSpPr txBox="1"/>
          <p:nvPr/>
        </p:nvSpPr>
        <p:spPr>
          <a:xfrm>
            <a:off x="7270000" y="3610000"/>
            <a:ext cx="1080000" cy="280000"/>
          </a:xfrm>
          <a:prstGeom prst="rect">
            <a:avLst/>
          </a:prstGeom>
        </p:spPr>
        <p:txBody>
          <a:bodyPr wrap="square" rtlCol="0">
            <a:spAutoFit/>
          </a:bodyPr>
          <a:lstStyle/>
          <a:p>
            <a:r>
              <a:rPr b="1" sz="1400">
                <a:solidFill>
                  <a:srgbClr val="FFDA6A"/>
                </a:solidFill>
                <a:latin typeface="Segoe UI Semibold"/>
              </a:rPr>
              <a:t>49.9ms avg</a:t>
            </a:r>
          </a:p>
        </p:txBody>
      </p:sp>
      <p:sp>
        <p:nvSpPr>
          <p:cNvPr id="31" name="Shape 31"/>
          <p:cNvSpPr/>
          <p:nvPr/>
        </p:nvSpPr>
        <p:spPr>
          <a:xfrm>
            <a:off x="430000" y="4610000"/>
            <a:ext cx="2530000" cy="1180000"/>
          </a:xfrm>
          <a:prstGeom prst="roundRect">
            <a:avLst/>
          </a:prstGeom>
          <a:solidFill>
            <a:srgbClr val="112841"/>
          </a:solidFill>
        </p:spPr>
        <p:txBody>
          <a:bodyPr rtlCol="0" anchor="ctr"/>
          <a:lstStyle/>
          <a:p/>
        </p:txBody>
      </p:sp>
      <p:sp>
        <p:nvSpPr>
          <p:cNvPr id="32" name="TextBox 32"/>
          <p:cNvSpPr txBox="1"/>
          <p:nvPr/>
        </p:nvSpPr>
        <p:spPr>
          <a:xfrm>
            <a:off x="690000" y="4870000"/>
            <a:ext cx="2020000" cy="650000"/>
          </a:xfrm>
          <a:prstGeom prst="rect">
            <a:avLst/>
          </a:prstGeom>
        </p:spPr>
        <p:txBody>
          <a:bodyPr wrap="square" rtlCol="0">
            <a:spAutoFit/>
          </a:bodyPr>
          <a:lstStyle/>
          <a:p>
            <a:r>
              <a:rPr b="1" sz="1200">
                <a:solidFill>
                  <a:srgbClr val="66C7FF"/>
                </a:solidFill>
                <a:latin typeface="Segoe UI Semibold"/>
              </a:rPr>
              <a:t>IDENTITY</a:t>
            </a:r>
          </a:p>
          <a:p>
            <a:r>
              <a:rPr sz="1100">
                <a:solidFill>
                  <a:srgbClr val="B8C7DC"/>
                </a:solidFill>
                <a:latin typeface="Segoe UI"/>
              </a:rPr>
              <a:t>Customer UAMI is separate from the Function controller identity.</a:t>
            </a:r>
          </a:p>
        </p:txBody>
      </p:sp>
      <p:sp>
        <p:nvSpPr>
          <p:cNvPr id="33" name="Shape 33"/>
          <p:cNvSpPr/>
          <p:nvPr/>
        </p:nvSpPr>
        <p:spPr>
          <a:xfrm>
            <a:off x="3305000" y="4610000"/>
            <a:ext cx="2530000" cy="1180000"/>
          </a:xfrm>
          <a:prstGeom prst="roundRect">
            <a:avLst/>
          </a:prstGeom>
          <a:solidFill>
            <a:srgbClr val="12342E"/>
          </a:solidFill>
        </p:spPr>
        <p:txBody>
          <a:bodyPr rtlCol="0" anchor="ctr"/>
          <a:lstStyle/>
          <a:p/>
        </p:txBody>
      </p:sp>
      <p:sp>
        <p:nvSpPr>
          <p:cNvPr id="34" name="TextBox 34"/>
          <p:cNvSpPr txBox="1"/>
          <p:nvPr/>
        </p:nvSpPr>
        <p:spPr>
          <a:xfrm>
            <a:off x="3565000" y="4870000"/>
            <a:ext cx="2020000" cy="650000"/>
          </a:xfrm>
          <a:prstGeom prst="rect">
            <a:avLst/>
          </a:prstGeom>
        </p:spPr>
        <p:txBody>
          <a:bodyPr wrap="square" rtlCol="0">
            <a:spAutoFit/>
          </a:bodyPr>
          <a:lstStyle/>
          <a:p>
            <a:r>
              <a:rPr b="1" sz="1200">
                <a:solidFill>
                  <a:srgbClr val="80E1BB"/>
                </a:solidFill>
                <a:latin typeface="Segoe UI Semibold"/>
              </a:rPr>
              <a:t>NETWORK</a:t>
            </a:r>
          </a:p>
          <a:p>
            <a:r>
              <a:rPr sz="1100">
                <a:solidFill>
                  <a:srgbClr val="C6E4D8"/>
                </a:solidFill>
                <a:latin typeface="Segoe UI"/>
              </a:rPr>
              <a:t>Deny-by-default egress with full inspection; no sandbox ingress.</a:t>
            </a:r>
          </a:p>
        </p:txBody>
      </p:sp>
      <p:sp>
        <p:nvSpPr>
          <p:cNvPr id="35" name="Shape 35"/>
          <p:cNvSpPr/>
          <p:nvPr/>
        </p:nvSpPr>
        <p:spPr>
          <a:xfrm>
            <a:off x="6180000" y="4610000"/>
            <a:ext cx="2400000" cy="1180000"/>
          </a:xfrm>
          <a:prstGeom prst="roundRect">
            <a:avLst/>
          </a:prstGeom>
          <a:solidFill>
            <a:srgbClr val="2B2B24"/>
          </a:solidFill>
        </p:spPr>
        <p:txBody>
          <a:bodyPr rtlCol="0" anchor="ctr"/>
          <a:lstStyle/>
          <a:p/>
        </p:txBody>
      </p:sp>
      <p:sp>
        <p:nvSpPr>
          <p:cNvPr id="36" name="TextBox 36"/>
          <p:cNvSpPr txBox="1"/>
          <p:nvPr/>
        </p:nvSpPr>
        <p:spPr>
          <a:xfrm>
            <a:off x="6440000" y="4870000"/>
            <a:ext cx="1900000" cy="650000"/>
          </a:xfrm>
          <a:prstGeom prst="rect">
            <a:avLst/>
          </a:prstGeom>
        </p:spPr>
        <p:txBody>
          <a:bodyPr wrap="square" rtlCol="0">
            <a:spAutoFit/>
          </a:bodyPr>
          <a:lstStyle/>
          <a:p>
            <a:r>
              <a:rPr b="1" sz="1200">
                <a:solidFill>
                  <a:srgbClr val="FFDA6A"/>
                </a:solidFill>
                <a:latin typeface="Segoe UI Semibold"/>
              </a:rPr>
              <a:t>LIFECYCLE</a:t>
            </a:r>
          </a:p>
          <a:p>
            <a:r>
              <a:rPr sz="1100">
                <a:solidFill>
                  <a:srgbClr val="E7DEB5"/>
                </a:solidFill>
                <a:latin typeface="Segoe UI"/>
              </a:rPr>
              <a:t>Immediate server-side delete; 300/600 policy and reaper as backstops.</a:t>
            </a:r>
          </a:p>
        </p:txBody>
      </p:sp>
      <p:sp>
        <p:nvSpPr>
          <p:cNvPr id="37" name="TextBox 37"/>
          <p:cNvSpPr txBox="1"/>
          <p:nvPr/>
        </p:nvSpPr>
        <p:spPr>
          <a:xfrm>
            <a:off x="540000" y="6270000"/>
            <a:ext cx="8000000" cy="220000"/>
          </a:xfrm>
          <a:prstGeom prst="rect">
            <a:avLst/>
          </a:prstGeom>
        </p:spPr>
        <p:txBody>
          <a:bodyPr wrap="square" rtlCol="0">
            <a:spAutoFit/>
          </a:bodyPr>
          <a:lstStyle/>
          <a:p>
            <a:r>
              <a:rPr sz="1000">
                <a:solidFill>
                  <a:srgbClr val="71839B"/>
                </a:solidFill>
                <a:latin typeface="Segoe UI"/>
              </a:rPr>
              <a:t>End-to-end request average: 10.65s. Model calls remain the largest variable component.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BFB1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The live proof is visible across Azure</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BFB1FF"/>
                </a:solidFill>
                <a:latin typeface="Segoe UI"/>
              </a:rPr>
              <a:t>ACTUAL PORTAL VIEWS  |  SAME CORRELATED DEMO INVOCATION</a:t>
            </a:r>
          </a:p>
        </p:txBody>
      </p:sp>
      <p:sp>
        <p:nvSpPr>
          <p:cNvPr id="6" name="Shape 6"/>
          <p:cNvSpPr/>
          <p:nvPr/>
        </p:nvSpPr>
        <p:spPr>
          <a:xfrm>
            <a:off x="500000" y="1450000"/>
            <a:ext cx="3900000" cy="2080000"/>
          </a:xfrm>
          <a:prstGeom prst="roundRect">
            <a:avLst/>
          </a:prstGeom>
          <a:solidFill>
            <a:srgbClr val="132238"/>
          </a:solidFill>
        </p:spPr>
        <p:txBody>
          <a:bodyPr rtlCol="0" anchor="ctr"/>
          <a:lstStyle/>
          <a:p/>
        </p:txBody>
      </p:sp>
      <p:sp>
        <p:nvSpPr>
          <p:cNvPr id="7" name="TextBox 7"/>
          <p:cNvSpPr txBox="1"/>
          <p:nvPr/>
        </p:nvSpPr>
        <p:spPr>
          <a:xfrm>
            <a:off x="760000" y="1750000"/>
            <a:ext cx="3350000" cy="300000"/>
          </a:xfrm>
          <a:prstGeom prst="rect">
            <a:avLst/>
          </a:prstGeom>
        </p:spPr>
        <p:txBody>
          <a:bodyPr wrap="square" rtlCol="0">
            <a:spAutoFit/>
          </a:bodyPr>
          <a:lstStyle/>
          <a:p>
            <a:r>
              <a:rPr b="1" sz="1100">
                <a:solidFill>
                  <a:srgbClr val="66C7FF"/>
                </a:solidFill>
                <a:latin typeface="Segoe UI"/>
              </a:rPr>
              <a:t>1  AZURE FUNCTIONS | HOSTED SKILL</a:t>
            </a:r>
          </a:p>
        </p:txBody>
      </p:sp>
      <p:sp>
        <p:nvSpPr>
          <p:cNvPr id="8" name="TextBox 8"/>
          <p:cNvSpPr txBox="1"/>
          <p:nvPr/>
        </p:nvSpPr>
        <p:spPr>
          <a:xfrm>
            <a:off x="76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Request succeeds and streams the tool result.</a:t>
            </a:r>
          </a:p>
        </p:txBody>
      </p:sp>
      <p:sp>
        <p:nvSpPr>
          <p:cNvPr id="9" name="Shape 9"/>
          <p:cNvSpPr/>
          <p:nvPr/>
        </p:nvSpPr>
        <p:spPr>
          <a:xfrm>
            <a:off x="4740000" y="1450000"/>
            <a:ext cx="3900000" cy="2080000"/>
          </a:xfrm>
          <a:prstGeom prst="roundRect">
            <a:avLst/>
          </a:prstGeom>
          <a:solidFill>
            <a:srgbClr val="102C43"/>
          </a:solidFill>
        </p:spPr>
        <p:txBody>
          <a:bodyPr rtlCol="0" anchor="ctr"/>
          <a:lstStyle/>
          <a:p/>
        </p:txBody>
      </p:sp>
      <p:sp>
        <p:nvSpPr>
          <p:cNvPr id="10" name="TextBox 10"/>
          <p:cNvSpPr txBox="1"/>
          <p:nvPr/>
        </p:nvSpPr>
        <p:spPr>
          <a:xfrm>
            <a:off x="5000000" y="1750000"/>
            <a:ext cx="3350000" cy="300000"/>
          </a:xfrm>
          <a:prstGeom prst="rect">
            <a:avLst/>
          </a:prstGeom>
        </p:spPr>
        <p:txBody>
          <a:bodyPr wrap="square" rtlCol="0">
            <a:spAutoFit/>
          </a:bodyPr>
          <a:lstStyle/>
          <a:p>
            <a:r>
              <a:rPr b="1" sz="1100">
                <a:solidFill>
                  <a:srgbClr val="50E6FF"/>
                </a:solidFill>
                <a:latin typeface="Segoe UI"/>
              </a:rPr>
              <a:t>2  APIM | FOUNDRY + MCP</a:t>
            </a:r>
          </a:p>
        </p:txBody>
      </p:sp>
      <p:sp>
        <p:nvSpPr>
          <p:cNvPr id="11" name="TextBox 11"/>
          <p:cNvSpPr txBox="1"/>
          <p:nvPr/>
        </p:nvSpPr>
        <p:spPr>
          <a:xfrm>
            <a:off x="500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Model and MCP requests share W3C correlation.</a:t>
            </a:r>
          </a:p>
        </p:txBody>
      </p:sp>
      <p:sp>
        <p:nvSpPr>
          <p:cNvPr id="12" name="Shape 12"/>
          <p:cNvSpPr/>
          <p:nvPr/>
        </p:nvSpPr>
        <p:spPr>
          <a:xfrm>
            <a:off x="500000" y="3900000"/>
            <a:ext cx="3900000" cy="2080000"/>
          </a:xfrm>
          <a:prstGeom prst="roundRect">
            <a:avLst/>
          </a:prstGeom>
          <a:solidFill>
            <a:srgbClr val="12342E"/>
          </a:solidFill>
        </p:spPr>
        <p:txBody>
          <a:bodyPr rtlCol="0" anchor="ctr"/>
          <a:lstStyle/>
          <a:p/>
        </p:txBody>
      </p:sp>
      <p:sp>
        <p:nvSpPr>
          <p:cNvPr id="13" name="TextBox 13"/>
          <p:cNvSpPr txBox="1"/>
          <p:nvPr/>
        </p:nvSpPr>
        <p:spPr>
          <a:xfrm>
            <a:off x="760000" y="4200000"/>
            <a:ext cx="3350000" cy="300000"/>
          </a:xfrm>
          <a:prstGeom prst="rect">
            <a:avLst/>
          </a:prstGeom>
        </p:spPr>
        <p:txBody>
          <a:bodyPr wrap="square" rtlCol="0">
            <a:spAutoFit/>
          </a:bodyPr>
          <a:lstStyle/>
          <a:p>
            <a:r>
              <a:rPr b="1" sz="1100">
                <a:solidFill>
                  <a:srgbClr val="80E1BB"/>
                </a:solidFill>
                <a:latin typeface="Segoe UI"/>
              </a:rPr>
              <a:t>3  ACA SANDBOX | TOOL EXECUTION</a:t>
            </a:r>
          </a:p>
        </p:txBody>
      </p:sp>
      <p:sp>
        <p:nvSpPr>
          <p:cNvPr id="14" name="TextBox 14"/>
          <p:cNvSpPr txBox="1"/>
          <p:nvPr/>
        </p:nvSpPr>
        <p:spPr>
          <a:xfrm>
            <a:off x="76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9FBFB2"/>
                </a:solidFill>
                <a:latin typeface="Segoe UI"/>
              </a:rPr>
              <a:t>Fresh sandbox appears, runs tools, then returns to zero.</a:t>
            </a:r>
          </a:p>
        </p:txBody>
      </p:sp>
      <p:sp>
        <p:nvSpPr>
          <p:cNvPr id="15" name="Shape 15"/>
          <p:cNvSpPr/>
          <p:nvPr/>
        </p:nvSpPr>
        <p:spPr>
          <a:xfrm>
            <a:off x="4740000" y="3900000"/>
            <a:ext cx="3900000" cy="2080000"/>
          </a:xfrm>
          <a:prstGeom prst="roundRect">
            <a:avLst/>
          </a:prstGeom>
          <a:solidFill>
            <a:srgbClr val="24233F"/>
          </a:solidFill>
        </p:spPr>
        <p:txBody>
          <a:bodyPr rtlCol="0" anchor="ctr"/>
          <a:lstStyle/>
          <a:p/>
        </p:txBody>
      </p:sp>
      <p:sp>
        <p:nvSpPr>
          <p:cNvPr id="16" name="TextBox 16"/>
          <p:cNvSpPr txBox="1"/>
          <p:nvPr/>
        </p:nvSpPr>
        <p:spPr>
          <a:xfrm>
            <a:off x="5000000" y="4200000"/>
            <a:ext cx="3350000" cy="300000"/>
          </a:xfrm>
          <a:prstGeom prst="rect">
            <a:avLst/>
          </a:prstGeom>
        </p:spPr>
        <p:txBody>
          <a:bodyPr wrap="square" rtlCol="0">
            <a:spAutoFit/>
          </a:bodyPr>
          <a:lstStyle/>
          <a:p>
            <a:r>
              <a:rPr b="1" sz="1100">
                <a:solidFill>
                  <a:srgbClr val="BFB1FF"/>
                </a:solidFill>
                <a:latin typeface="Segoe UI"/>
              </a:rPr>
              <a:t>4  APPLICATION INSIGHTS | WATERFALL</a:t>
            </a:r>
          </a:p>
        </p:txBody>
      </p:sp>
      <p:sp>
        <p:nvSpPr>
          <p:cNvPr id="17" name="TextBox 17"/>
          <p:cNvSpPr txBox="1"/>
          <p:nvPr/>
        </p:nvSpPr>
        <p:spPr>
          <a:xfrm>
            <a:off x="500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AFAAD0"/>
                </a:solidFill>
                <a:latin typeface="Segoe UI"/>
              </a:rPr>
              <a:t>Create, upload, verify, execute, and cleanup phases.</a:t>
            </a:r>
          </a:p>
        </p:txBody>
      </p:sp>
      <p:sp>
        <p:nvSpPr>
          <p:cNvPr id="18" name="TextBox 18"/>
          <p:cNvSpPr txBox="1"/>
          <p:nvPr/>
        </p:nvSpPr>
        <p:spPr>
          <a:xfrm>
            <a:off x="540000" y="6280000"/>
            <a:ext cx="8000000" cy="220000"/>
          </a:xfrm>
          <a:prstGeom prst="rect">
            <a:avLst/>
          </a:prstGeom>
        </p:spPr>
        <p:txBody>
          <a:bodyPr wrap="square" rtlCol="0">
            <a:spAutoFit/>
          </a:bodyPr>
          <a:lstStyle/>
          <a:p>
            <a:r>
              <a:rPr sz="1000">
                <a:solidFill>
                  <a:srgbClr val="71839B"/>
                </a:solidFill>
                <a:latin typeface="Segoe UI"/>
              </a:rPr>
              <a:t>No mocks: the video uses the retained Function App, APIM APIs, Sandbox Group, and Application Insights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The optimization cut runtime latency in half</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50E6FF"/>
                </a:solidFill>
                <a:latin typeface="Segoe UI"/>
              </a:rPr>
              <a:t>CANONICAL BASELINE VS. OPTIMIZED LIVE QUALIFICATION</a:t>
            </a:r>
          </a:p>
        </p:txBody>
      </p:sp>
      <p:sp>
        <p:nvSpPr>
          <p:cNvPr id="6" name="Shape 6"/>
          <p:cNvSpPr/>
          <p:nvPr/>
        </p:nvSpPr>
        <p:spPr>
          <a:xfrm>
            <a:off x="520000" y="1480000"/>
            <a:ext cx="3180000" cy="3000000"/>
          </a:xfrm>
          <a:prstGeom prst="roundRect">
            <a:avLst/>
          </a:prstGeom>
          <a:solidFill>
            <a:srgbClr val="103452"/>
          </a:solidFill>
        </p:spPr>
        <p:txBody>
          <a:bodyPr rtlCol="0" anchor="ctr"/>
          <a:lstStyle/>
          <a:p/>
        </p:txBody>
      </p:sp>
      <p:sp>
        <p:nvSpPr>
          <p:cNvPr id="7" name="TextBox 7"/>
          <p:cNvSpPr txBox="1"/>
          <p:nvPr/>
        </p:nvSpPr>
        <p:spPr>
          <a:xfrm>
            <a:off x="850000" y="1840000"/>
            <a:ext cx="2500000" cy="900000"/>
          </a:xfrm>
          <a:prstGeom prst="rect">
            <a:avLst/>
          </a:prstGeom>
        </p:spPr>
        <p:txBody>
          <a:bodyPr wrap="square" rtlCol="0">
            <a:spAutoFit/>
          </a:bodyPr>
          <a:lstStyle/>
          <a:p>
            <a:r>
              <a:rPr b="1" sz="4800">
                <a:solidFill>
                  <a:srgbClr val="50E6FF"/>
                </a:solidFill>
                <a:latin typeface="Segoe UI Semibold"/>
              </a:rPr>
              <a:t>48%</a:t>
            </a:r>
          </a:p>
        </p:txBody>
      </p:sp>
      <p:sp>
        <p:nvSpPr>
          <p:cNvPr id="8" name="TextBox 8"/>
          <p:cNvSpPr txBox="1"/>
          <p:nvPr/>
        </p:nvSpPr>
        <p:spPr>
          <a:xfrm>
            <a:off x="880000" y="2790000"/>
            <a:ext cx="2450000" cy="550000"/>
          </a:xfrm>
          <a:prstGeom prst="rect">
            <a:avLst/>
          </a:prstGeom>
        </p:spPr>
        <p:txBody>
          <a:bodyPr wrap="square" rtlCol="0">
            <a:spAutoFit/>
          </a:bodyPr>
          <a:lstStyle/>
          <a:p>
            <a:r>
              <a:rPr b="1" sz="2000">
                <a:solidFill>
                  <a:srgbClr val="F7FAFC"/>
                </a:solidFill>
                <a:latin typeface="Segoe UI Semibold"/>
              </a:rPr>
              <a:t>lower average runtime</a:t>
            </a:r>
          </a:p>
        </p:txBody>
      </p:sp>
      <p:sp>
        <p:nvSpPr>
          <p:cNvPr id="9" name="TextBox 9"/>
          <p:cNvSpPr txBox="1"/>
          <p:nvPr/>
        </p:nvSpPr>
        <p:spPr>
          <a:xfrm>
            <a:off x="880000" y="3470000"/>
            <a:ext cx="2450000" cy="550000"/>
          </a:xfrm>
          <a:prstGeom prst="rect">
            <a:avLst/>
          </a:prstGeom>
        </p:spPr>
        <p:txBody>
          <a:bodyPr wrap="square" rtlCol="0">
            <a:spAutoFit/>
          </a:bodyPr>
          <a:lstStyle/>
          <a:p>
            <a:r>
              <a:rPr b="1" sz="1700">
                <a:solidFill>
                  <a:srgbClr val="CDEEFF"/>
                </a:solidFill>
                <a:latin typeface="Segoe UI"/>
              </a:rPr>
              <a:t>20.49s  -&gt;  10.65s</a:t>
            </a:r>
          </a:p>
          <a:p>
            <a:r>
              <a:rPr sz="1300">
                <a:solidFill>
                  <a:srgbClr val="9FC6DF"/>
                </a:solidFill>
                <a:latin typeface="Segoe UI"/>
              </a:rPr>
              <a:t>Saved 9.84s per request</a:t>
            </a:r>
          </a:p>
        </p:txBody>
      </p:sp>
      <p:sp>
        <p:nvSpPr>
          <p:cNvPr id="10" name="TextBox 10"/>
          <p:cNvSpPr txBox="1"/>
          <p:nvPr/>
        </p:nvSpPr>
        <p:spPr>
          <a:xfrm>
            <a:off x="4080000" y="1510000"/>
            <a:ext cx="4100000" cy="300000"/>
          </a:xfrm>
          <a:prstGeom prst="rect">
            <a:avLst/>
          </a:prstGeom>
        </p:spPr>
        <p:txBody>
          <a:bodyPr wrap="square" rtlCol="0">
            <a:spAutoFit/>
          </a:bodyPr>
          <a:lstStyle/>
          <a:p>
            <a:r>
              <a:rPr b="1" sz="1100" spc="70">
                <a:solidFill>
                  <a:srgbClr val="A7B5CB"/>
                </a:solidFill>
                <a:latin typeface="Segoe UI"/>
              </a:rPr>
              <a:t>TOTAL REQUEST LATENCY</a:t>
            </a:r>
          </a:p>
        </p:txBody>
      </p:sp>
      <p:sp>
        <p:nvSpPr>
          <p:cNvPr id="11" name="TextBox 11"/>
          <p:cNvSpPr txBox="1"/>
          <p:nvPr/>
        </p:nvSpPr>
        <p:spPr>
          <a:xfrm>
            <a:off x="4090000" y="1920000"/>
            <a:ext cx="1250000" cy="300000"/>
          </a:xfrm>
          <a:prstGeom prst="rect">
            <a:avLst/>
          </a:prstGeom>
        </p:spPr>
        <p:txBody>
          <a:bodyPr wrap="square" rtlCol="0">
            <a:spAutoFit/>
          </a:bodyPr>
          <a:lstStyle/>
          <a:p>
            <a:r>
              <a:rPr b="1" sz="1300">
                <a:solidFill>
                  <a:srgbClr val="F7FAFC"/>
                </a:solidFill>
                <a:latin typeface="Segoe UI Semibold"/>
              </a:rPr>
              <a:t>Cold start</a:t>
            </a:r>
          </a:p>
        </p:txBody>
      </p:sp>
      <p:sp>
        <p:nvSpPr>
          <p:cNvPr id="12" name="Shape 12"/>
          <p:cNvSpPr/>
          <p:nvPr/>
        </p:nvSpPr>
        <p:spPr>
          <a:xfrm>
            <a:off x="5410000" y="1920000"/>
            <a:ext cx="2250000" cy="240000"/>
          </a:xfrm>
          <a:prstGeom prst="roundRect">
            <a:avLst/>
          </a:prstGeom>
          <a:solidFill>
            <a:srgbClr val="4A5568"/>
          </a:solidFill>
        </p:spPr>
        <p:txBody>
          <a:bodyPr rtlCol="0" anchor="ctr"/>
          <a:lstStyle/>
          <a:p/>
        </p:txBody>
      </p:sp>
      <p:sp>
        <p:nvSpPr>
          <p:cNvPr id="13" name="Shape 13"/>
          <p:cNvSpPr/>
          <p:nvPr/>
        </p:nvSpPr>
        <p:spPr>
          <a:xfrm>
            <a:off x="5410000" y="2240000"/>
            <a:ext cx="1440000" cy="240000"/>
          </a:xfrm>
          <a:prstGeom prst="roundRect">
            <a:avLst/>
          </a:prstGeom>
          <a:solidFill>
            <a:srgbClr val="50E6FF"/>
          </a:solidFill>
        </p:spPr>
        <p:txBody>
          <a:bodyPr rtlCol="0" anchor="ctr"/>
          <a:lstStyle/>
          <a:p/>
        </p:txBody>
      </p:sp>
      <p:sp>
        <p:nvSpPr>
          <p:cNvPr id="14" name="TextBox 14"/>
          <p:cNvSpPr txBox="1"/>
          <p:nvPr/>
        </p:nvSpPr>
        <p:spPr>
          <a:xfrm>
            <a:off x="7780000" y="1840000"/>
            <a:ext cx="800000" cy="650000"/>
          </a:xfrm>
          <a:prstGeom prst="rect">
            <a:avLst/>
          </a:prstGeom>
        </p:spPr>
        <p:txBody>
          <a:bodyPr wrap="square" rtlCol="0">
            <a:spAutoFit/>
          </a:bodyPr>
          <a:lstStyle/>
          <a:p>
            <a:r>
              <a:rPr sz="1100">
                <a:solidFill>
                  <a:srgbClr val="A7B5CB"/>
                </a:solidFill>
                <a:latin typeface="Segoe UI"/>
              </a:rPr>
              <a:t>27.7s</a:t>
            </a:r>
          </a:p>
          <a:p>
            <a:r>
              <a:rPr b="1" sz="1100">
                <a:solidFill>
                  <a:srgbClr val="50E6FF"/>
                </a:solidFill>
                <a:latin typeface="Segoe UI Semibold"/>
              </a:rPr>
              <a:t>17.7s</a:t>
            </a:r>
          </a:p>
        </p:txBody>
      </p:sp>
      <p:sp>
        <p:nvSpPr>
          <p:cNvPr id="15" name="TextBox 15"/>
          <p:cNvSpPr txBox="1"/>
          <p:nvPr/>
        </p:nvSpPr>
        <p:spPr>
          <a:xfrm>
            <a:off x="4090000" y="2760000"/>
            <a:ext cx="1250000" cy="300000"/>
          </a:xfrm>
          <a:prstGeom prst="rect">
            <a:avLst/>
          </a:prstGeom>
        </p:spPr>
        <p:txBody>
          <a:bodyPr wrap="square" rtlCol="0">
            <a:spAutoFit/>
          </a:bodyPr>
          <a:lstStyle/>
          <a:p>
            <a:r>
              <a:rPr b="1" sz="1300">
                <a:solidFill>
                  <a:srgbClr val="F7FAFC"/>
                </a:solidFill>
                <a:latin typeface="Segoe UI Semibold"/>
              </a:rPr>
              <a:t>c1 p50</a:t>
            </a:r>
          </a:p>
        </p:txBody>
      </p:sp>
      <p:sp>
        <p:nvSpPr>
          <p:cNvPr id="16" name="Shape 16"/>
          <p:cNvSpPr/>
          <p:nvPr/>
        </p:nvSpPr>
        <p:spPr>
          <a:xfrm>
            <a:off x="5410000" y="2760000"/>
            <a:ext cx="2250000" cy="240000"/>
          </a:xfrm>
          <a:prstGeom prst="roundRect">
            <a:avLst/>
          </a:prstGeom>
          <a:solidFill>
            <a:srgbClr val="4A5568"/>
          </a:solidFill>
        </p:spPr>
        <p:txBody>
          <a:bodyPr rtlCol="0" anchor="ctr"/>
          <a:lstStyle/>
          <a:p/>
        </p:txBody>
      </p:sp>
      <p:sp>
        <p:nvSpPr>
          <p:cNvPr id="17" name="Shape 17"/>
          <p:cNvSpPr/>
          <p:nvPr/>
        </p:nvSpPr>
        <p:spPr>
          <a:xfrm>
            <a:off x="5410000" y="3080000"/>
            <a:ext cx="1040000" cy="240000"/>
          </a:xfrm>
          <a:prstGeom prst="roundRect">
            <a:avLst/>
          </a:prstGeom>
          <a:solidFill>
            <a:srgbClr val="6CCB5F"/>
          </a:solidFill>
        </p:spPr>
        <p:txBody>
          <a:bodyPr rtlCol="0" anchor="ctr"/>
          <a:lstStyle/>
          <a:p/>
        </p:txBody>
      </p:sp>
      <p:sp>
        <p:nvSpPr>
          <p:cNvPr id="18" name="TextBox 18"/>
          <p:cNvSpPr txBox="1"/>
          <p:nvPr/>
        </p:nvSpPr>
        <p:spPr>
          <a:xfrm>
            <a:off x="7780000" y="2680000"/>
            <a:ext cx="800000" cy="650000"/>
          </a:xfrm>
          <a:prstGeom prst="rect">
            <a:avLst/>
          </a:prstGeom>
        </p:spPr>
        <p:txBody>
          <a:bodyPr wrap="square" rtlCol="0">
            <a:spAutoFit/>
          </a:bodyPr>
          <a:lstStyle/>
          <a:p>
            <a:r>
              <a:rPr sz="1100">
                <a:solidFill>
                  <a:srgbClr val="A7B5CB"/>
                </a:solidFill>
                <a:latin typeface="Segoe UI"/>
              </a:rPr>
              <a:t>19.7s</a:t>
            </a:r>
          </a:p>
          <a:p>
            <a:r>
              <a:rPr b="1" sz="1100">
                <a:solidFill>
                  <a:srgbClr val="6CCB5F"/>
                </a:solidFill>
                <a:latin typeface="Segoe UI Semibold"/>
              </a:rPr>
              <a:t>9.1s</a:t>
            </a:r>
          </a:p>
        </p:txBody>
      </p:sp>
      <p:sp>
        <p:nvSpPr>
          <p:cNvPr id="19" name="TextBox 19"/>
          <p:cNvSpPr txBox="1"/>
          <p:nvPr/>
        </p:nvSpPr>
        <p:spPr>
          <a:xfrm>
            <a:off x="4090000" y="3600000"/>
            <a:ext cx="1250000" cy="300000"/>
          </a:xfrm>
          <a:prstGeom prst="rect">
            <a:avLst/>
          </a:prstGeom>
        </p:spPr>
        <p:txBody>
          <a:bodyPr wrap="square" rtlCol="0">
            <a:spAutoFit/>
          </a:bodyPr>
          <a:lstStyle/>
          <a:p>
            <a:r>
              <a:rPr b="1" sz="1300">
                <a:solidFill>
                  <a:srgbClr val="F7FAFC"/>
                </a:solidFill>
                <a:latin typeface="Segoe UI Semibold"/>
              </a:rPr>
              <a:t>c10 p50</a:t>
            </a:r>
          </a:p>
        </p:txBody>
      </p:sp>
      <p:sp>
        <p:nvSpPr>
          <p:cNvPr id="20" name="Shape 20"/>
          <p:cNvSpPr/>
          <p:nvPr/>
        </p:nvSpPr>
        <p:spPr>
          <a:xfrm>
            <a:off x="5410000" y="3600000"/>
            <a:ext cx="2250000" cy="240000"/>
          </a:xfrm>
          <a:prstGeom prst="roundRect">
            <a:avLst/>
          </a:prstGeom>
          <a:solidFill>
            <a:srgbClr val="4A5568"/>
          </a:solidFill>
        </p:spPr>
        <p:txBody>
          <a:bodyPr rtlCol="0" anchor="ctr"/>
          <a:lstStyle/>
          <a:p/>
        </p:txBody>
      </p:sp>
      <p:sp>
        <p:nvSpPr>
          <p:cNvPr id="21" name="Shape 21"/>
          <p:cNvSpPr/>
          <p:nvPr/>
        </p:nvSpPr>
        <p:spPr>
          <a:xfrm>
            <a:off x="5410000" y="3920000"/>
            <a:ext cx="1510000" cy="240000"/>
          </a:xfrm>
          <a:prstGeom prst="roundRect">
            <a:avLst/>
          </a:prstGeom>
          <a:solidFill>
            <a:srgbClr val="BFB1FF"/>
          </a:solidFill>
        </p:spPr>
        <p:txBody>
          <a:bodyPr rtlCol="0" anchor="ctr"/>
          <a:lstStyle/>
          <a:p/>
        </p:txBody>
      </p:sp>
      <p:sp>
        <p:nvSpPr>
          <p:cNvPr id="22" name="TextBox 22"/>
          <p:cNvSpPr txBox="1"/>
          <p:nvPr/>
        </p:nvSpPr>
        <p:spPr>
          <a:xfrm>
            <a:off x="7780000" y="3520000"/>
            <a:ext cx="800000" cy="650000"/>
          </a:xfrm>
          <a:prstGeom prst="rect">
            <a:avLst/>
          </a:prstGeom>
        </p:spPr>
        <p:txBody>
          <a:bodyPr wrap="square" rtlCol="0">
            <a:spAutoFit/>
          </a:bodyPr>
          <a:lstStyle/>
          <a:p>
            <a:r>
              <a:rPr sz="1100">
                <a:solidFill>
                  <a:srgbClr val="A7B5CB"/>
                </a:solidFill>
                <a:latin typeface="Segoe UI"/>
              </a:rPr>
              <a:t>27.6s</a:t>
            </a:r>
          </a:p>
          <a:p>
            <a:r>
              <a:rPr b="1" sz="1100">
                <a:solidFill>
                  <a:srgbClr val="BFB1FF"/>
                </a:solidFill>
                <a:latin typeface="Segoe UI Semibold"/>
              </a:rPr>
              <a:t>18.5s</a:t>
            </a:r>
          </a:p>
        </p:txBody>
      </p:sp>
      <p:sp>
        <p:nvSpPr>
          <p:cNvPr id="23" name="Shape 23"/>
          <p:cNvSpPr/>
          <p:nvPr/>
        </p:nvSpPr>
        <p:spPr>
          <a:xfrm>
            <a:off x="520000" y="4730000"/>
            <a:ext cx="1900000" cy="830000"/>
          </a:xfrm>
          <a:prstGeom prst="roundRect">
            <a:avLst/>
          </a:prstGeom>
          <a:solidFill>
            <a:srgbClr val="172A46"/>
          </a:solidFill>
        </p:spPr>
        <p:txBody>
          <a:bodyPr rtlCol="0" anchor="ctr"/>
          <a:lstStyle/>
          <a:p/>
        </p:txBody>
      </p:sp>
      <p:sp>
        <p:nvSpPr>
          <p:cNvPr id="24" name="TextBox 24"/>
          <p:cNvSpPr txBox="1"/>
          <p:nvPr/>
        </p:nvSpPr>
        <p:spPr>
          <a:xfrm>
            <a:off x="730000" y="4930000"/>
            <a:ext cx="1500000" cy="400000"/>
          </a:xfrm>
          <a:prstGeom prst="rect">
            <a:avLst/>
          </a:prstGeom>
        </p:spPr>
        <p:txBody>
          <a:bodyPr wrap="square" rtlCol="0">
            <a:spAutoFit/>
          </a:bodyPr>
          <a:lstStyle/>
          <a:p>
            <a:r>
              <a:rPr b="1" sz="1700">
                <a:solidFill>
                  <a:srgbClr val="F7FAFC"/>
                </a:solidFill>
                <a:latin typeface="Segoe UI Semibold"/>
              </a:rPr>
              <a:t>21 / 21</a:t>
            </a:r>
          </a:p>
          <a:p>
            <a:r>
              <a:rPr sz="1100">
                <a:solidFill>
                  <a:srgbClr val="A7B5CB"/>
                </a:solidFill>
                <a:latin typeface="Segoe UI"/>
              </a:rPr>
              <a:t>requests succeeded</a:t>
            </a:r>
          </a:p>
        </p:txBody>
      </p:sp>
      <p:sp>
        <p:nvSpPr>
          <p:cNvPr id="25" name="Shape 25"/>
          <p:cNvSpPr/>
          <p:nvPr/>
        </p:nvSpPr>
        <p:spPr>
          <a:xfrm>
            <a:off x="2560000" y="4730000"/>
            <a:ext cx="1900000" cy="830000"/>
          </a:xfrm>
          <a:prstGeom prst="roundRect">
            <a:avLst/>
          </a:prstGeom>
          <a:solidFill>
            <a:srgbClr val="12342E"/>
          </a:solidFill>
        </p:spPr>
        <p:txBody>
          <a:bodyPr rtlCol="0" anchor="ctr"/>
          <a:lstStyle/>
          <a:p/>
        </p:txBody>
      </p:sp>
      <p:sp>
        <p:nvSpPr>
          <p:cNvPr id="26" name="TextBox 26"/>
          <p:cNvSpPr txBox="1"/>
          <p:nvPr/>
        </p:nvSpPr>
        <p:spPr>
          <a:xfrm>
            <a:off x="2770000" y="4930000"/>
            <a:ext cx="1500000" cy="400000"/>
          </a:xfrm>
          <a:prstGeom prst="rect">
            <a:avLst/>
          </a:prstGeom>
        </p:spPr>
        <p:txBody>
          <a:bodyPr wrap="square" rtlCol="0">
            <a:spAutoFit/>
          </a:bodyPr>
          <a:lstStyle/>
          <a:p>
            <a:r>
              <a:rPr b="1" sz="1700">
                <a:solidFill>
                  <a:srgbClr val="80E1BB"/>
                </a:solidFill>
                <a:latin typeface="Segoe UI Semibold"/>
              </a:rPr>
              <a:t>0</a:t>
            </a:r>
          </a:p>
          <a:p>
            <a:r>
              <a:rPr sz="1100">
                <a:solidFill>
                  <a:srgbClr val="A9DBC8"/>
                </a:solidFill>
                <a:latin typeface="Segoe UI"/>
              </a:rPr>
              <a:t>hybrid failures</a:t>
            </a:r>
          </a:p>
        </p:txBody>
      </p:sp>
      <p:sp>
        <p:nvSpPr>
          <p:cNvPr id="27" name="Shape 27"/>
          <p:cNvSpPr/>
          <p:nvPr/>
        </p:nvSpPr>
        <p:spPr>
          <a:xfrm>
            <a:off x="4600000" y="4730000"/>
            <a:ext cx="1900000" cy="830000"/>
          </a:xfrm>
          <a:prstGeom prst="roundRect">
            <a:avLst/>
          </a:prstGeom>
          <a:solidFill>
            <a:srgbClr val="24233F"/>
          </a:solidFill>
        </p:spPr>
        <p:txBody>
          <a:bodyPr rtlCol="0" anchor="ctr"/>
          <a:lstStyle/>
          <a:p/>
        </p:txBody>
      </p:sp>
      <p:sp>
        <p:nvSpPr>
          <p:cNvPr id="28" name="TextBox 28"/>
          <p:cNvSpPr txBox="1"/>
          <p:nvPr/>
        </p:nvSpPr>
        <p:spPr>
          <a:xfrm>
            <a:off x="4810000" y="4930000"/>
            <a:ext cx="1500000" cy="400000"/>
          </a:xfrm>
          <a:prstGeom prst="rect">
            <a:avLst/>
          </a:prstGeom>
        </p:spPr>
        <p:txBody>
          <a:bodyPr wrap="square" rtlCol="0">
            <a:spAutoFit/>
          </a:bodyPr>
          <a:lstStyle/>
          <a:p>
            <a:r>
              <a:rPr b="1" sz="1700">
                <a:solidFill>
                  <a:srgbClr val="BFB1FF"/>
                </a:solidFill>
                <a:latin typeface="Segoe UI Semibold"/>
              </a:rPr>
              <a:t>0</a:t>
            </a:r>
          </a:p>
          <a:p>
            <a:r>
              <a:rPr sz="1100">
                <a:solidFill>
                  <a:srgbClr val="AFAAD0"/>
                </a:solidFill>
                <a:latin typeface="Segoe UI"/>
              </a:rPr>
              <a:t>sandboxes remaining</a:t>
            </a:r>
          </a:p>
        </p:txBody>
      </p:sp>
      <p:sp>
        <p:nvSpPr>
          <p:cNvPr id="29" name="Shape 29"/>
          <p:cNvSpPr/>
          <p:nvPr/>
        </p:nvSpPr>
        <p:spPr>
          <a:xfrm>
            <a:off x="6640000" y="4730000"/>
            <a:ext cx="1940000" cy="830000"/>
          </a:xfrm>
          <a:prstGeom prst="roundRect">
            <a:avLst/>
          </a:prstGeom>
          <a:solidFill>
            <a:srgbClr val="2B2B24"/>
          </a:solidFill>
        </p:spPr>
        <p:txBody>
          <a:bodyPr rtlCol="0" anchor="ctr"/>
          <a:lstStyle/>
          <a:p/>
        </p:txBody>
      </p:sp>
      <p:sp>
        <p:nvSpPr>
          <p:cNvPr id="30" name="TextBox 30"/>
          <p:cNvSpPr txBox="1"/>
          <p:nvPr/>
        </p:nvSpPr>
        <p:spPr>
          <a:xfrm>
            <a:off x="6850000" y="4930000"/>
            <a:ext cx="1540000" cy="400000"/>
          </a:xfrm>
          <a:prstGeom prst="rect">
            <a:avLst/>
          </a:prstGeom>
        </p:spPr>
        <p:txBody>
          <a:bodyPr wrap="square" rtlCol="0">
            <a:spAutoFit/>
          </a:bodyPr>
          <a:lstStyle/>
          <a:p>
            <a:r>
              <a:rPr b="1" sz="1700">
                <a:solidFill>
                  <a:srgbClr val="FFDA6A"/>
                </a:solidFill>
                <a:latin typeface="Segoe UI Semibold"/>
              </a:rPr>
              <a:t>~1.3ms</a:t>
            </a:r>
          </a:p>
          <a:p>
            <a:r>
              <a:rPr sz="1100">
                <a:solidFill>
                  <a:srgbClr val="D8D0A8"/>
                </a:solidFill>
                <a:latin typeface="Segoe UI"/>
              </a:rPr>
              <a:t>APIM p50 overhead</a:t>
            </a:r>
          </a:p>
        </p:txBody>
      </p:sp>
      <p:sp>
        <p:nvSpPr>
          <p:cNvPr id="31" name="Shape 31"/>
          <p:cNvSpPr/>
          <p:nvPr/>
        </p:nvSpPr>
        <p:spPr>
          <a:xfrm>
            <a:off x="520000" y="5840000"/>
            <a:ext cx="8060000" cy="600000"/>
          </a:xfrm>
          <a:prstGeom prst="roundRect">
            <a:avLst/>
          </a:prstGeom>
          <a:solidFill>
            <a:srgbClr val="163E63"/>
          </a:solidFill>
        </p:spPr>
        <p:txBody>
          <a:bodyPr rtlCol="0" anchor="ctr"/>
          <a:lstStyle/>
          <a:p/>
        </p:txBody>
      </p:sp>
      <p:sp>
        <p:nvSpPr>
          <p:cNvPr id="32" name="TextBox 32"/>
          <p:cNvSpPr txBox="1"/>
          <p:nvPr/>
        </p:nvSpPr>
        <p:spPr>
          <a:xfrm>
            <a:off x="840000" y="6010000"/>
            <a:ext cx="7450000" cy="260000"/>
          </a:xfrm>
          <a:prstGeom prst="rect">
            <a:avLst/>
          </a:prstGeom>
        </p:spPr>
        <p:txBody>
          <a:bodyPr wrap="square" rtlCol="0">
            <a:spAutoFit/>
          </a:bodyPr>
          <a:lstStyle/>
          <a:p>
            <a:r>
              <a:rPr b="1" sz="1600">
                <a:solidFill>
                  <a:srgbClr val="EAF6FF"/>
                </a:solidFill>
                <a:latin typeface="Segoe UI Semibold"/>
              </a:rPr>
              <a:t>Leadership decision: fund a productization design for the customer-controlled tool execution plane.</a:t>
            </a:r>
          </a:p>
        </p:txBody>
      </p:sp>
      <p:sp>
        <p:nvSpPr>
          <p:cNvPr id="33" name="TextBox 33"/>
          <p:cNvSpPr txBox="1"/>
          <p:nvPr/>
        </p:nvSpPr>
        <p:spPr>
          <a:xfrm>
            <a:off x="540000" y="6490000"/>
            <a:ext cx="7900000" cy="150000"/>
          </a:xfrm>
          <a:prstGeom prst="rect">
            <a:avLst/>
          </a:prstGeom>
        </p:spPr>
        <p:txBody>
          <a:bodyPr wrap="square" rtlCol="0">
            <a:spAutoFit/>
          </a:bodyPr>
          <a:lstStyle/>
          <a:p>
            <a:r>
              <a:rPr sz="900">
                <a:solidFill>
                  <a:srgbClr val="71839B"/>
                </a:solidFill>
                <a:latin typeface="Segoe UI"/>
              </a:rPr>
              <a:t>Next: supported configuration, capacity guidance, tenant isolation review, richer trace UX, and production SLOs.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